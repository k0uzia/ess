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0" r:id="rId2"/>
    <p:sldId id="261" r:id="rId3"/>
    <p:sldId id="288" r:id="rId4"/>
    <p:sldId id="316" r:id="rId5"/>
    <p:sldId id="321" r:id="rId6"/>
    <p:sldId id="318" r:id="rId7"/>
    <p:sldId id="319" r:id="rId8"/>
    <p:sldId id="320" r:id="rId9"/>
    <p:sldId id="322" r:id="rId10"/>
    <p:sldId id="317" r:id="rId11"/>
    <p:sldId id="323" r:id="rId12"/>
    <p:sldId id="324" r:id="rId13"/>
    <p:sldId id="325"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938"/>
    <a:srgbClr val="5FB9C8"/>
    <a:srgbClr val="F5A1E3"/>
    <a:srgbClr val="A272A0"/>
    <a:srgbClr val="F9AF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724" autoAdjust="0"/>
  </p:normalViewPr>
  <p:slideViewPr>
    <p:cSldViewPr snapToGrid="0">
      <p:cViewPr varScale="1">
        <p:scale>
          <a:sx n="96" d="100"/>
          <a:sy n="96" d="100"/>
        </p:scale>
        <p:origin x="11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940EC4-12F0-4987-9900-A97BEDB5E1C8}" type="datetimeFigureOut">
              <a:rPr lang="fr-FR" smtClean="0"/>
              <a:t>17/02/2021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120570-46BC-4D00-A240-57607EE80F41}" type="slidenum">
              <a:rPr lang="fr-FR" smtClean="0"/>
              <a:t>‹N°›</a:t>
            </a:fld>
            <a:endParaRPr lang="fr-FR"/>
          </a:p>
        </p:txBody>
      </p:sp>
    </p:spTree>
    <p:extLst>
      <p:ext uri="{BB962C8B-B14F-4D97-AF65-F5344CB8AC3E}">
        <p14:creationId xmlns:p14="http://schemas.microsoft.com/office/powerpoint/2010/main" val="3934710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9120570-46BC-4D00-A240-57607EE80F41}" type="slidenum">
              <a:rPr lang="fr-FR" smtClean="0"/>
              <a:t>6</a:t>
            </a:fld>
            <a:endParaRPr lang="fr-FR"/>
          </a:p>
        </p:txBody>
      </p:sp>
    </p:spTree>
    <p:extLst>
      <p:ext uri="{BB962C8B-B14F-4D97-AF65-F5344CB8AC3E}">
        <p14:creationId xmlns:p14="http://schemas.microsoft.com/office/powerpoint/2010/main" val="471176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Qui sont les partenaires sur le site internet ? (On ajoute pas la </a:t>
            </a:r>
            <a:r>
              <a:rPr lang="fr-FR" dirty="0" err="1"/>
              <a:t>Cress</a:t>
            </a:r>
            <a:r>
              <a:rPr lang="fr-FR" dirty="0"/>
              <a:t> ?) </a:t>
            </a:r>
          </a:p>
          <a:p>
            <a:r>
              <a:rPr lang="fr-FR" dirty="0"/>
              <a:t>Les partenaires ci-dessus ? Mélange financiers et partenaires ?</a:t>
            </a:r>
          </a:p>
        </p:txBody>
      </p:sp>
      <p:sp>
        <p:nvSpPr>
          <p:cNvPr id="4" name="Espace réservé du numéro de diapositive 3"/>
          <p:cNvSpPr>
            <a:spLocks noGrp="1"/>
          </p:cNvSpPr>
          <p:nvPr>
            <p:ph type="sldNum" sz="quarter" idx="5"/>
          </p:nvPr>
        </p:nvSpPr>
        <p:spPr/>
        <p:txBody>
          <a:bodyPr/>
          <a:lstStyle/>
          <a:p>
            <a:fld id="{09120570-46BC-4D00-A240-57607EE80F41}" type="slidenum">
              <a:rPr lang="fr-FR" smtClean="0"/>
              <a:t>10</a:t>
            </a:fld>
            <a:endParaRPr lang="fr-FR"/>
          </a:p>
        </p:txBody>
      </p:sp>
    </p:spTree>
    <p:extLst>
      <p:ext uri="{BB962C8B-B14F-4D97-AF65-F5344CB8AC3E}">
        <p14:creationId xmlns:p14="http://schemas.microsoft.com/office/powerpoint/2010/main" val="1628129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49F0C2-A1E2-4A0F-B953-4A707F03E77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76AF62D-9D28-4FB3-9037-AF621146CF1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7F9CA81-E9E5-4D91-B471-540DC46156E9}"/>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5" name="Espace réservé du pied de page 4">
            <a:extLst>
              <a:ext uri="{FF2B5EF4-FFF2-40B4-BE49-F238E27FC236}">
                <a16:creationId xmlns:a16="http://schemas.microsoft.com/office/drawing/2014/main" id="{6E912F18-1B74-4EF2-83E6-D313EABD9D0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9BAA1D-EEAE-4C0D-9F52-1EADAB5CFD76}"/>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3038915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066DED-B06C-42DD-AFF6-30011701267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3EDDF11-790F-4E8A-A5D6-EFD48477091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5AC5526-9B4F-4382-8B94-30A02EF501DF}"/>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5" name="Espace réservé du pied de page 4">
            <a:extLst>
              <a:ext uri="{FF2B5EF4-FFF2-40B4-BE49-F238E27FC236}">
                <a16:creationId xmlns:a16="http://schemas.microsoft.com/office/drawing/2014/main" id="{1ACC412D-81A9-4865-8542-C3C3BA16FA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688B707-F653-441D-BF5F-12F12C529ED9}"/>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1955043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F29465-0156-49A6-8E83-9D079A99F1C5}"/>
              </a:ext>
            </a:extLst>
          </p:cNvPr>
          <p:cNvSpPr>
            <a:spLocks noGrp="1"/>
          </p:cNvSpPr>
          <p:nvPr>
            <p:ph type="title"/>
          </p:nvPr>
        </p:nvSpPr>
        <p:spPr>
          <a:xfrm>
            <a:off x="831851" y="1709740"/>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4307FBE-56D2-47E3-BE95-7207A3C040F8}"/>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A02CDE1-B9F4-4304-982E-17A8A1E6CB21}"/>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5" name="Espace réservé du pied de page 4">
            <a:extLst>
              <a:ext uri="{FF2B5EF4-FFF2-40B4-BE49-F238E27FC236}">
                <a16:creationId xmlns:a16="http://schemas.microsoft.com/office/drawing/2014/main" id="{F7A46429-37B4-4216-993F-D4BB1252B31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2AFD4B-5B96-4581-9633-37F219CE2B67}"/>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3966105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2FE327-6A47-4520-A73B-45D77214109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E1EFC1A-E381-4EBE-9C6E-C6F68A159C4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8C090EF-77C3-4F03-B91B-6736EFDC2CA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026C829-B5F5-4925-9213-84B2C9C77D65}"/>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6" name="Espace réservé du pied de page 5">
            <a:extLst>
              <a:ext uri="{FF2B5EF4-FFF2-40B4-BE49-F238E27FC236}">
                <a16:creationId xmlns:a16="http://schemas.microsoft.com/office/drawing/2014/main" id="{ED4209A3-5904-4FB6-94F7-724FB728B04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3C5A747-F9B8-4F48-B4D3-65A43888655C}"/>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2547552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5F68E3-8DC3-4E37-9892-4F4CF4D2C519}"/>
              </a:ext>
            </a:extLst>
          </p:cNvPr>
          <p:cNvSpPr>
            <a:spLocks noGrp="1"/>
          </p:cNvSpPr>
          <p:nvPr>
            <p:ph type="title"/>
          </p:nvPr>
        </p:nvSpPr>
        <p:spPr>
          <a:xfrm>
            <a:off x="839788" y="365127"/>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9C31833-16FD-4764-BFED-D27EFD04ED83}"/>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39F93B9-241A-4D86-AE42-A3A4C192059F}"/>
              </a:ext>
            </a:extLst>
          </p:cNvPr>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653B646-CE77-49A9-A932-8265BE68084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EF7C79D-F948-4C0F-9AE8-361F3ED2FEE0}"/>
              </a:ext>
            </a:extLst>
          </p:cNvPr>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DC7D1F9-0758-4E62-B114-E791C3479A2A}"/>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8" name="Espace réservé du pied de page 7">
            <a:extLst>
              <a:ext uri="{FF2B5EF4-FFF2-40B4-BE49-F238E27FC236}">
                <a16:creationId xmlns:a16="http://schemas.microsoft.com/office/drawing/2014/main" id="{4470BFBA-8139-4B27-AE90-724F5049519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0DE2121-3320-42A4-8A58-7D210DF20788}"/>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2181834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05B7D9-5233-4234-B1F8-85AD5E06EF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64E2704-0A3D-46C2-BED6-2722641ADE4A}"/>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4" name="Espace réservé du pied de page 3">
            <a:extLst>
              <a:ext uri="{FF2B5EF4-FFF2-40B4-BE49-F238E27FC236}">
                <a16:creationId xmlns:a16="http://schemas.microsoft.com/office/drawing/2014/main" id="{609A5FBB-14CF-40BF-92B3-7C30028DC9C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094DBC2-364C-48A8-9909-B701B5F8E782}"/>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3438672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78F910F-F28C-4B10-8477-EDC4288A7110}"/>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3" name="Espace réservé du pied de page 2">
            <a:extLst>
              <a:ext uri="{FF2B5EF4-FFF2-40B4-BE49-F238E27FC236}">
                <a16:creationId xmlns:a16="http://schemas.microsoft.com/office/drawing/2014/main" id="{613F4DC9-464A-404A-9CFE-FAF1A668703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0BAC56F-CB4F-43E1-8A98-CFA66845C06A}"/>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3850014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FF6499-9DD8-4C4B-969E-E89E3650920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94123E3-4F9B-4113-B2EA-07E7EA875277}"/>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1EB1A34-902E-453D-AC78-1FA6F7AB0E0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81568CA-47A7-43E6-A4FE-2075CCE3657E}"/>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6" name="Espace réservé du pied de page 5">
            <a:extLst>
              <a:ext uri="{FF2B5EF4-FFF2-40B4-BE49-F238E27FC236}">
                <a16:creationId xmlns:a16="http://schemas.microsoft.com/office/drawing/2014/main" id="{77528918-458C-447E-9173-25CC99A3E79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A09F82E-6E4C-4808-90CB-F740D937EC43}"/>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3611824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3A8A1C-D082-4C8D-981C-211E9F3E046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5F6430B-1C67-4C07-B4FC-5CCB34F29B98}"/>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fr-FR"/>
          </a:p>
        </p:txBody>
      </p:sp>
      <p:sp>
        <p:nvSpPr>
          <p:cNvPr id="4" name="Espace réservé du texte 3">
            <a:extLst>
              <a:ext uri="{FF2B5EF4-FFF2-40B4-BE49-F238E27FC236}">
                <a16:creationId xmlns:a16="http://schemas.microsoft.com/office/drawing/2014/main" id="{6B7F7424-8736-438B-AE1F-C4A8F254D3D3}"/>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45EE0C1-7F41-4B4D-B301-DBF793D3C190}"/>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6" name="Espace réservé du pied de page 5">
            <a:extLst>
              <a:ext uri="{FF2B5EF4-FFF2-40B4-BE49-F238E27FC236}">
                <a16:creationId xmlns:a16="http://schemas.microsoft.com/office/drawing/2014/main" id="{77B41770-FCA2-4BAF-A1E5-9EF69941BF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B70ABA-8E37-420C-A0B6-27319465B43C}"/>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1477987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D4D620-56AB-41E3-8542-2F7A7CB845F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6D5A500-0905-4D9C-8443-1C50FBB98D3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5D77056-41E0-4C23-93FD-23D3382F4CE1}"/>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5" name="Espace réservé du pied de page 4">
            <a:extLst>
              <a:ext uri="{FF2B5EF4-FFF2-40B4-BE49-F238E27FC236}">
                <a16:creationId xmlns:a16="http://schemas.microsoft.com/office/drawing/2014/main" id="{2D632237-DC1A-4D2F-9BCD-3F52609B78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BE28213-40A5-46D9-9952-D104434F887A}"/>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2972290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9EDC692-A997-4534-83EF-79E5275F9CBB}"/>
              </a:ext>
            </a:extLst>
          </p:cNvPr>
          <p:cNvSpPr>
            <a:spLocks noGrp="1"/>
          </p:cNvSpPr>
          <p:nvPr>
            <p:ph type="title" orient="vert"/>
          </p:nvPr>
        </p:nvSpPr>
        <p:spPr>
          <a:xfrm>
            <a:off x="8724901"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A8E10BB-5AF2-42A1-9C9A-A0830FA90EF9}"/>
              </a:ext>
            </a:extLst>
          </p:cNvPr>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91C224-38D0-4ACB-AC13-581648CF0B45}"/>
              </a:ext>
            </a:extLst>
          </p:cNvPr>
          <p:cNvSpPr>
            <a:spLocks noGrp="1"/>
          </p:cNvSpPr>
          <p:nvPr>
            <p:ph type="dt" sz="half" idx="10"/>
          </p:nvPr>
        </p:nvSpPr>
        <p:spPr/>
        <p:txBody>
          <a:bodyPr/>
          <a:lstStyle/>
          <a:p>
            <a:fld id="{3CE98D98-05FF-41B5-A039-D17490AC13FB}" type="datetimeFigureOut">
              <a:rPr lang="fr-FR" smtClean="0"/>
              <a:t>17/02/2021</a:t>
            </a:fld>
            <a:endParaRPr lang="fr-FR"/>
          </a:p>
        </p:txBody>
      </p:sp>
      <p:sp>
        <p:nvSpPr>
          <p:cNvPr id="5" name="Espace réservé du pied de page 4">
            <a:extLst>
              <a:ext uri="{FF2B5EF4-FFF2-40B4-BE49-F238E27FC236}">
                <a16:creationId xmlns:a16="http://schemas.microsoft.com/office/drawing/2014/main" id="{10F3129E-72D4-4DD5-A160-D16AD5001B8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D7D7E3F-9DFF-4C43-8588-E3C3E1CE646F}"/>
              </a:ext>
            </a:extLst>
          </p:cNvPr>
          <p:cNvSpPr>
            <a:spLocks noGrp="1"/>
          </p:cNvSpPr>
          <p:nvPr>
            <p:ph type="sldNum" sz="quarter" idx="12"/>
          </p:nvPr>
        </p:nvSpPr>
        <p:spPr/>
        <p:txBody>
          <a:bodyPr/>
          <a:lstStyle/>
          <a:p>
            <a:fld id="{9799214B-3D48-4CE9-A88F-22BABB4B1603}" type="slidenum">
              <a:rPr lang="fr-FR" smtClean="0"/>
              <a:t>‹N°›</a:t>
            </a:fld>
            <a:endParaRPr lang="fr-FR"/>
          </a:p>
        </p:txBody>
      </p:sp>
    </p:spTree>
    <p:extLst>
      <p:ext uri="{BB962C8B-B14F-4D97-AF65-F5344CB8AC3E}">
        <p14:creationId xmlns:p14="http://schemas.microsoft.com/office/powerpoint/2010/main" val="2102345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6532A6E-1573-48F7-B78B-60D844E9810D}"/>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973F5C7-DB2C-4E56-ACE8-B6111B9A44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C0567C9-68DA-4853-A3F9-C3F90401C8D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E98D98-05FF-41B5-A039-D17490AC13FB}" type="datetimeFigureOut">
              <a:rPr lang="fr-FR" smtClean="0"/>
              <a:t>17/02/2021</a:t>
            </a:fld>
            <a:endParaRPr lang="fr-FR"/>
          </a:p>
        </p:txBody>
      </p:sp>
      <p:sp>
        <p:nvSpPr>
          <p:cNvPr id="5" name="Espace réservé du pied de page 4">
            <a:extLst>
              <a:ext uri="{FF2B5EF4-FFF2-40B4-BE49-F238E27FC236}">
                <a16:creationId xmlns:a16="http://schemas.microsoft.com/office/drawing/2014/main" id="{70790B49-813D-492E-A59C-13510760D22E}"/>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EAC2FEB-17B4-465A-8532-86573D19340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99214B-3D48-4CE9-A88F-22BABB4B1603}" type="slidenum">
              <a:rPr lang="fr-FR" smtClean="0"/>
              <a:t>‹N°›</a:t>
            </a:fld>
            <a:endParaRPr lang="fr-FR"/>
          </a:p>
        </p:txBody>
      </p:sp>
    </p:spTree>
    <p:extLst>
      <p:ext uri="{BB962C8B-B14F-4D97-AF65-F5344CB8AC3E}">
        <p14:creationId xmlns:p14="http://schemas.microsoft.com/office/powerpoint/2010/main" val="365079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jpg"/><Relationship Id="rId13" Type="http://schemas.openxmlformats.org/officeDocument/2006/relationships/image" Target="../media/image15.jpg"/><Relationship Id="rId3" Type="http://schemas.openxmlformats.org/officeDocument/2006/relationships/image" Target="../media/image5.png"/><Relationship Id="rId7" Type="http://schemas.openxmlformats.org/officeDocument/2006/relationships/image" Target="../media/image9.jp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jp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jp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12" Type="http://schemas.openxmlformats.org/officeDocument/2006/relationships/image" Target="../media/image19.jp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8.png"/><Relationship Id="rId5" Type="http://schemas.openxmlformats.org/officeDocument/2006/relationships/image" Target="../media/image11.png"/><Relationship Id="rId10" Type="http://schemas.openxmlformats.org/officeDocument/2006/relationships/image" Target="../media/image17.jpg"/><Relationship Id="rId4" Type="http://schemas.openxmlformats.org/officeDocument/2006/relationships/image" Target="../media/image8.jpg"/><Relationship Id="rId9" Type="http://schemas.openxmlformats.org/officeDocument/2006/relationships/image" Target="../media/image16.jp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jpg"/><Relationship Id="rId9"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png"/><Relationship Id="rId9"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6274" y="0"/>
            <a:ext cx="4638399" cy="6858000"/>
          </a:xfrm>
          <a:prstGeom prst="rect">
            <a:avLst/>
          </a:prstGeom>
        </p:spPr>
      </p:pic>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42500" y="6032500"/>
            <a:ext cx="609600" cy="609600"/>
          </a:xfrm>
          <a:prstGeom prst="rect">
            <a:avLst/>
          </a:prstGeom>
        </p:spPr>
      </p:pic>
    </p:spTree>
    <p:extLst>
      <p:ext uri="{BB962C8B-B14F-4D97-AF65-F5344CB8AC3E}">
        <p14:creationId xmlns:p14="http://schemas.microsoft.com/office/powerpoint/2010/main" val="3142116115"/>
      </p:ext>
    </p:extLst>
  </p:cSld>
  <p:clrMapOvr>
    <a:masterClrMapping/>
  </p:clrMapOvr>
  <mc:AlternateContent xmlns:mc="http://schemas.openxmlformats.org/markup-compatibility/2006" xmlns:p14="http://schemas.microsoft.com/office/powerpoint/2010/main">
    <mc:Choice Requires="p14">
      <p:transition spd="slow" p14:dur="2000" advTm="34593"/>
    </mc:Choice>
    <mc:Fallback xmlns="">
      <p:transition spd="slow" advTm="345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1105" y="5253083"/>
            <a:ext cx="1015228" cy="1471812"/>
          </a:xfrm>
          <a:prstGeom prst="rect">
            <a:avLst/>
          </a:prstGeom>
        </p:spPr>
      </p:pic>
      <p:sp>
        <p:nvSpPr>
          <p:cNvPr id="6" name="ZoneTexte 5"/>
          <p:cNvSpPr txBox="1"/>
          <p:nvPr/>
        </p:nvSpPr>
        <p:spPr>
          <a:xfrm>
            <a:off x="2547871" y="1315896"/>
            <a:ext cx="7096259" cy="3724096"/>
          </a:xfrm>
          <a:prstGeom prst="rect">
            <a:avLst/>
          </a:prstGeom>
          <a:noFill/>
        </p:spPr>
        <p:txBody>
          <a:bodyPr wrap="square" rtlCol="0">
            <a:spAutoFit/>
          </a:bodyPr>
          <a:lstStyle/>
          <a:p>
            <a:r>
              <a:rPr lang="fr-FR" sz="4800" dirty="0">
                <a:solidFill>
                  <a:srgbClr val="222938"/>
                </a:solidFill>
                <a:latin typeface="Quicksand Bold" pitchFamily="50" charset="0"/>
              </a:rPr>
              <a:t>Utilisation des logos</a:t>
            </a:r>
          </a:p>
          <a:p>
            <a:endParaRPr lang="fr-FR" sz="4800" dirty="0">
              <a:solidFill>
                <a:srgbClr val="222938"/>
              </a:solidFill>
              <a:latin typeface="Quicksand Book" panose="02070303000000060000" pitchFamily="18" charset="0"/>
            </a:endParaRPr>
          </a:p>
          <a:p>
            <a:pPr marL="457189" indent="-457189">
              <a:buFont typeface="Wingdings" panose="05000000000000000000" pitchFamily="2" charset="2"/>
              <a:buChar char="§"/>
            </a:pPr>
            <a:r>
              <a:rPr lang="fr-FR" sz="2800" dirty="0">
                <a:solidFill>
                  <a:srgbClr val="EB5B25"/>
                </a:solidFill>
                <a:latin typeface="Quicksand Book" panose="02070303000000060000" pitchFamily="18" charset="0"/>
              </a:rPr>
              <a:t>La Marque Bretagne</a:t>
            </a:r>
          </a:p>
          <a:p>
            <a:pPr marL="457189" indent="-457189">
              <a:buFont typeface="Wingdings" panose="05000000000000000000" pitchFamily="2" charset="2"/>
              <a:buChar char="§"/>
            </a:pPr>
            <a:r>
              <a:rPr lang="fr-FR" sz="2800" dirty="0">
                <a:solidFill>
                  <a:srgbClr val="0071B9"/>
                </a:solidFill>
                <a:latin typeface="Quicksand Book" panose="02070303000000060000" pitchFamily="18" charset="0"/>
              </a:rPr>
              <a:t>Les financeurs </a:t>
            </a:r>
          </a:p>
          <a:p>
            <a:pPr marL="457189" indent="-457189">
              <a:buFont typeface="Wingdings" panose="05000000000000000000" pitchFamily="2" charset="2"/>
              <a:buChar char="§"/>
            </a:pPr>
            <a:r>
              <a:rPr lang="fr-FR" sz="2800" dirty="0">
                <a:solidFill>
                  <a:srgbClr val="5FB9C8"/>
                </a:solidFill>
                <a:latin typeface="Quicksand Book" panose="02070303000000060000" pitchFamily="18" charset="0"/>
              </a:rPr>
              <a:t>Les partenaires</a:t>
            </a:r>
          </a:p>
          <a:p>
            <a:pPr marL="457189" indent="-457189">
              <a:buFont typeface="Wingdings" panose="05000000000000000000" pitchFamily="2" charset="2"/>
              <a:buChar char="§"/>
            </a:pPr>
            <a:r>
              <a:rPr lang="fr-FR" sz="2800" dirty="0" err="1">
                <a:solidFill>
                  <a:srgbClr val="FFC000"/>
                </a:solidFill>
                <a:latin typeface="Quicksand Book" panose="02070303000000060000" pitchFamily="18" charset="0"/>
              </a:rPr>
              <a:t>TAgBZH</a:t>
            </a:r>
            <a:endParaRPr lang="fr-FR" sz="2800" dirty="0">
              <a:solidFill>
                <a:srgbClr val="FFC000"/>
              </a:solidFill>
              <a:latin typeface="Quicksand Book" panose="02070303000000060000" pitchFamily="18" charset="0"/>
            </a:endParaRPr>
          </a:p>
          <a:p>
            <a:endParaRPr lang="fr-FR" sz="2800" dirty="0">
              <a:latin typeface="Quicksand Dash" panose="02070303000000060000" pitchFamily="18" charset="0"/>
            </a:endParaRPr>
          </a:p>
        </p:txBody>
      </p:sp>
    </p:spTree>
    <p:extLst>
      <p:ext uri="{BB962C8B-B14F-4D97-AF65-F5344CB8AC3E}">
        <p14:creationId xmlns:p14="http://schemas.microsoft.com/office/powerpoint/2010/main" val="3103969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311116-FC0B-4244-8479-2FD8D14DEB23}"/>
              </a:ext>
            </a:extLst>
          </p:cNvPr>
          <p:cNvSpPr/>
          <p:nvPr/>
        </p:nvSpPr>
        <p:spPr>
          <a:xfrm>
            <a:off x="0" y="0"/>
            <a:ext cx="12192000" cy="6858000"/>
          </a:xfrm>
          <a:prstGeom prst="rect">
            <a:avLst/>
          </a:prstGeom>
          <a:solidFill>
            <a:srgbClr val="2229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2D8F1CA1-E862-486B-B375-930B87A14B12}"/>
              </a:ext>
            </a:extLst>
          </p:cNvPr>
          <p:cNvSpPr txBox="1"/>
          <p:nvPr/>
        </p:nvSpPr>
        <p:spPr>
          <a:xfrm>
            <a:off x="1314277" y="2598005"/>
            <a:ext cx="9563449" cy="830997"/>
          </a:xfrm>
          <a:prstGeom prst="rect">
            <a:avLst/>
          </a:prstGeom>
          <a:noFill/>
        </p:spPr>
        <p:txBody>
          <a:bodyPr wrap="square" rtlCol="0">
            <a:spAutoFit/>
          </a:bodyPr>
          <a:lstStyle/>
          <a:p>
            <a:pPr algn="ctr"/>
            <a:r>
              <a:rPr lang="fr-FR" sz="4800" dirty="0">
                <a:solidFill>
                  <a:schemeClr val="bg1"/>
                </a:solidFill>
                <a:latin typeface="Quicksand Bold" pitchFamily="50" charset="0"/>
              </a:rPr>
              <a:t>1. </a:t>
            </a:r>
            <a:r>
              <a:rPr lang="fr-FR" sz="4800" dirty="0">
                <a:solidFill>
                  <a:schemeClr val="bg1"/>
                </a:solidFill>
                <a:latin typeface="Quicksand Book" panose="02070303000000060000" pitchFamily="18" charset="0"/>
              </a:rPr>
              <a:t>La Marque Bretagne </a:t>
            </a:r>
          </a:p>
        </p:txBody>
      </p:sp>
    </p:spTree>
    <p:extLst>
      <p:ext uri="{BB962C8B-B14F-4D97-AF65-F5344CB8AC3E}">
        <p14:creationId xmlns:p14="http://schemas.microsoft.com/office/powerpoint/2010/main" val="3266100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A2C3775-CE26-4420-A152-0E98A2038694}"/>
              </a:ext>
            </a:extLst>
          </p:cNvPr>
          <p:cNvSpPr/>
          <p:nvPr/>
        </p:nvSpPr>
        <p:spPr>
          <a:xfrm>
            <a:off x="679673" y="3689237"/>
            <a:ext cx="5729515" cy="16327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BDD1BBDC-5233-42D6-B4B0-BE53FF3F9464}"/>
              </a:ext>
            </a:extLst>
          </p:cNvPr>
          <p:cNvSpPr/>
          <p:nvPr/>
        </p:nvSpPr>
        <p:spPr>
          <a:xfrm>
            <a:off x="679674" y="746621"/>
            <a:ext cx="4345333" cy="2348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C4AA5D6-FB34-4FD4-91A6-14B1DE5FA3EA}"/>
              </a:ext>
            </a:extLst>
          </p:cNvPr>
          <p:cNvSpPr txBox="1"/>
          <p:nvPr/>
        </p:nvSpPr>
        <p:spPr>
          <a:xfrm>
            <a:off x="679673" y="3458469"/>
            <a:ext cx="6465921" cy="400110"/>
          </a:xfrm>
          <a:prstGeom prst="rect">
            <a:avLst/>
          </a:prstGeom>
          <a:noFill/>
        </p:spPr>
        <p:txBody>
          <a:bodyPr wrap="square" rtlCol="0">
            <a:spAutoFit/>
          </a:bodyPr>
          <a:lstStyle/>
          <a:p>
            <a:r>
              <a:rPr lang="fr-FR" sz="2000" dirty="0">
                <a:solidFill>
                  <a:srgbClr val="222938"/>
                </a:solidFill>
                <a:latin typeface="Quicksand Bold" pitchFamily="50" charset="0"/>
              </a:rPr>
              <a:t>Les TAg partenaires de la marque Bretagne </a:t>
            </a:r>
          </a:p>
        </p:txBody>
      </p:sp>
      <p:sp>
        <p:nvSpPr>
          <p:cNvPr id="6" name="ZoneTexte 5">
            <a:extLst>
              <a:ext uri="{FF2B5EF4-FFF2-40B4-BE49-F238E27FC236}">
                <a16:creationId xmlns:a16="http://schemas.microsoft.com/office/drawing/2014/main" id="{C5434855-880C-4E1E-B733-0A7199758557}"/>
              </a:ext>
            </a:extLst>
          </p:cNvPr>
          <p:cNvSpPr txBox="1"/>
          <p:nvPr/>
        </p:nvSpPr>
        <p:spPr>
          <a:xfrm>
            <a:off x="679673" y="4031924"/>
            <a:ext cx="11222183" cy="1200329"/>
          </a:xfrm>
          <a:prstGeom prst="rect">
            <a:avLst/>
          </a:prstGeom>
          <a:noFill/>
        </p:spPr>
        <p:txBody>
          <a:bodyPr wrap="square" rtlCol="0">
            <a:spAutoFit/>
          </a:bodyPr>
          <a:lstStyle/>
          <a:p>
            <a:r>
              <a:rPr lang="fr-FR" sz="1200" dirty="0">
                <a:latin typeface="Quicksand Bold" pitchFamily="50" charset="0"/>
              </a:rPr>
              <a:t>Chaque TAg est partenaire de la marque Bretagne. </a:t>
            </a:r>
            <a:r>
              <a:rPr lang="fr-FR" sz="1200" dirty="0">
                <a:latin typeface="Quicksand Book" panose="02070303000000060000" pitchFamily="18" charset="0"/>
              </a:rPr>
              <a:t>Le logo de la marque Bretagne est apposable sur les documents de communication concernant – uniquement - les TAg et à condition de respecter le code marque Bretagne et la charte des </a:t>
            </a:r>
            <a:r>
              <a:rPr lang="fr-FR" sz="1200" dirty="0" err="1">
                <a:latin typeface="Quicksand Book" panose="02070303000000060000" pitchFamily="18" charset="0"/>
              </a:rPr>
              <a:t>TAgBZH</a:t>
            </a:r>
            <a:r>
              <a:rPr lang="fr-FR" sz="1200" dirty="0">
                <a:latin typeface="Quicksand Book" panose="02070303000000060000" pitchFamily="18" charset="0"/>
              </a:rPr>
              <a:t>. (Ne pas utiliser pour des documents mêlant TAg et pôles par exemple). Il est également impératif que le document de communication soit propre et lisible. La Marque Bretagne s’autorise le droit de retirer son logo si elle juge que les supports de communication desservent sa marque. Le dessin de la marque est immuable. Aucune modification ou déformation du logotype n’est autorisée. </a:t>
            </a:r>
          </a:p>
          <a:p>
            <a:r>
              <a:rPr lang="fr-FR" sz="1200" dirty="0">
                <a:latin typeface="Quicksand Book" panose="02070303000000060000" pitchFamily="18" charset="0"/>
              </a:rPr>
              <a:t>En cas de doute, n’hésitez pas à poser la question au service communication ! </a:t>
            </a:r>
          </a:p>
        </p:txBody>
      </p:sp>
      <p:sp>
        <p:nvSpPr>
          <p:cNvPr id="9" name="ZoneTexte 8">
            <a:extLst>
              <a:ext uri="{FF2B5EF4-FFF2-40B4-BE49-F238E27FC236}">
                <a16:creationId xmlns:a16="http://schemas.microsoft.com/office/drawing/2014/main" id="{80DCBAD0-1CAA-4E03-9963-B56020A90925}"/>
              </a:ext>
            </a:extLst>
          </p:cNvPr>
          <p:cNvSpPr txBox="1"/>
          <p:nvPr/>
        </p:nvSpPr>
        <p:spPr>
          <a:xfrm>
            <a:off x="749118" y="587886"/>
            <a:ext cx="5729516" cy="2954655"/>
          </a:xfrm>
          <a:prstGeom prst="rect">
            <a:avLst/>
          </a:prstGeom>
          <a:noFill/>
        </p:spPr>
        <p:txBody>
          <a:bodyPr wrap="square" rtlCol="0">
            <a:spAutoFit/>
          </a:bodyPr>
          <a:lstStyle/>
          <a:p>
            <a:r>
              <a:rPr lang="fr-FR" dirty="0">
                <a:latin typeface="Quicksand Bold" pitchFamily="50" charset="0"/>
              </a:rPr>
              <a:t>Qu’est ce que la marque Bretagne ? </a:t>
            </a:r>
          </a:p>
          <a:p>
            <a:endParaRPr lang="fr-FR" sz="1200" dirty="0">
              <a:latin typeface="Quicksand Bold" pitchFamily="50" charset="0"/>
            </a:endParaRPr>
          </a:p>
          <a:p>
            <a:r>
              <a:rPr lang="fr-FR" sz="1200" dirty="0">
                <a:latin typeface="Quicksand Book" panose="02070303000000060000" pitchFamily="18" charset="0"/>
              </a:rPr>
              <a:t>Une marque de territoire au service de l’attractivité de la Bretagne</a:t>
            </a:r>
          </a:p>
          <a:p>
            <a:r>
              <a:rPr lang="fr-FR" sz="1200" dirty="0">
                <a:latin typeface="Quicksand Book" panose="02070303000000060000" pitchFamily="18" charset="0"/>
              </a:rPr>
              <a:t>Elle est conçue pour permettre à la </a:t>
            </a:r>
            <a:r>
              <a:rPr lang="fr-FR" sz="1200" dirty="0">
                <a:latin typeface="Quicksand Bold" pitchFamily="50" charset="0"/>
              </a:rPr>
              <a:t>région</a:t>
            </a:r>
            <a:r>
              <a:rPr lang="fr-FR" sz="1200" dirty="0">
                <a:latin typeface="Quicksand Book" panose="02070303000000060000" pitchFamily="18" charset="0"/>
              </a:rPr>
              <a:t> d’être plus </a:t>
            </a:r>
            <a:r>
              <a:rPr lang="fr-FR" sz="1200" dirty="0">
                <a:latin typeface="Quicksand Bold" pitchFamily="50" charset="0"/>
              </a:rPr>
              <a:t>visible et attractive,</a:t>
            </a:r>
            <a:r>
              <a:rPr lang="fr-FR" sz="1200" dirty="0">
                <a:latin typeface="Quicksand Book" panose="02070303000000060000" pitchFamily="18" charset="0"/>
              </a:rPr>
              <a:t> en enrichissant et en modernisant son image. Elle porte l’ image d’une Bretagne </a:t>
            </a:r>
            <a:r>
              <a:rPr lang="fr-FR" sz="1200" dirty="0">
                <a:latin typeface="Quicksand Bold" pitchFamily="50" charset="0"/>
              </a:rPr>
              <a:t>moderne, innovante, créative et engagée </a:t>
            </a:r>
            <a:r>
              <a:rPr lang="fr-FR" sz="1200" dirty="0">
                <a:latin typeface="Quicksand Book" panose="02070303000000060000" pitchFamily="18" charset="0"/>
              </a:rPr>
              <a:t>pour répondre aux enjeux d’un développement responsable et durable.</a:t>
            </a:r>
          </a:p>
          <a:p>
            <a:r>
              <a:rPr lang="fr-FR" sz="1200" dirty="0">
                <a:latin typeface="Quicksand Book" panose="02070303000000060000" pitchFamily="18" charset="0"/>
              </a:rPr>
              <a:t>Elle est mise à la disposition des </a:t>
            </a:r>
            <a:r>
              <a:rPr lang="fr-FR" sz="1200" b="1" dirty="0">
                <a:latin typeface="Quicksand Bold" pitchFamily="50" charset="0"/>
              </a:rPr>
              <a:t>entreprises</a:t>
            </a:r>
            <a:r>
              <a:rPr lang="fr-FR" sz="1200" dirty="0">
                <a:latin typeface="Quicksand Bold" pitchFamily="50" charset="0"/>
              </a:rPr>
              <a:t>, des </a:t>
            </a:r>
            <a:r>
              <a:rPr lang="fr-FR" sz="1200" b="1" dirty="0">
                <a:latin typeface="Quicksand Bold" pitchFamily="50" charset="0"/>
              </a:rPr>
              <a:t>associations</a:t>
            </a:r>
            <a:r>
              <a:rPr lang="fr-FR" sz="1200" dirty="0">
                <a:latin typeface="Quicksand Bold" pitchFamily="50" charset="0"/>
              </a:rPr>
              <a:t> et des </a:t>
            </a:r>
            <a:r>
              <a:rPr lang="fr-FR" sz="1200" b="1" dirty="0">
                <a:latin typeface="Quicksand Bold" pitchFamily="50" charset="0"/>
              </a:rPr>
              <a:t>organismes publics</a:t>
            </a:r>
            <a:r>
              <a:rPr lang="fr-FR" sz="1200" dirty="0">
                <a:latin typeface="Quicksand Book" panose="02070303000000060000" pitchFamily="18" charset="0"/>
              </a:rPr>
              <a:t> qui souhaitent d’une part, </a:t>
            </a:r>
            <a:r>
              <a:rPr lang="fr-FR" sz="1200" b="1" dirty="0">
                <a:latin typeface="Quicksand Bold" pitchFamily="50" charset="0"/>
              </a:rPr>
              <a:t>partager les valeurs</a:t>
            </a:r>
            <a:r>
              <a:rPr lang="fr-FR" sz="1200" dirty="0">
                <a:latin typeface="Quicksand Bold" pitchFamily="50" charset="0"/>
              </a:rPr>
              <a:t> </a:t>
            </a:r>
            <a:r>
              <a:rPr lang="fr-FR" sz="1200" dirty="0">
                <a:latin typeface="Quicksand Book" panose="02070303000000060000" pitchFamily="18" charset="0"/>
              </a:rPr>
              <a:t>de la Bretagne, et d’autre part, </a:t>
            </a:r>
            <a:r>
              <a:rPr lang="fr-FR" sz="1200" b="1" dirty="0">
                <a:latin typeface="Quicksand Bold" pitchFamily="50" charset="0"/>
              </a:rPr>
              <a:t>se référer à au territoire dans leur communication</a:t>
            </a:r>
            <a:r>
              <a:rPr lang="fr-FR" sz="1200" dirty="0">
                <a:latin typeface="Quicksand Book" panose="02070303000000060000" pitchFamily="18" charset="0"/>
              </a:rPr>
              <a:t> afin de promouvoir leurs activités au niveau national et/ou international.</a:t>
            </a:r>
          </a:p>
          <a:p>
            <a:endParaRPr lang="fr-FR" sz="1200" dirty="0">
              <a:latin typeface="Quicksand Book" panose="02070303000000060000" pitchFamily="18" charset="0"/>
            </a:endParaRPr>
          </a:p>
          <a:p>
            <a:endParaRPr lang="fr-FR" sz="1200" dirty="0">
              <a:latin typeface="Quicksand Book" panose="02070303000000060000" pitchFamily="18" charset="0"/>
            </a:endParaRPr>
          </a:p>
          <a:p>
            <a:endParaRPr lang="fr-FR" sz="1200" dirty="0">
              <a:latin typeface="Quicksand Book" panose="02070303000000060000" pitchFamily="18" charset="0"/>
            </a:endParaRPr>
          </a:p>
        </p:txBody>
      </p:sp>
      <p:sp>
        <p:nvSpPr>
          <p:cNvPr id="10" name="ZoneTexte 9">
            <a:extLst>
              <a:ext uri="{FF2B5EF4-FFF2-40B4-BE49-F238E27FC236}">
                <a16:creationId xmlns:a16="http://schemas.microsoft.com/office/drawing/2014/main" id="{2546C435-430D-4732-8A42-F6CD4ED7CD6C}"/>
              </a:ext>
            </a:extLst>
          </p:cNvPr>
          <p:cNvSpPr txBox="1"/>
          <p:nvPr/>
        </p:nvSpPr>
        <p:spPr>
          <a:xfrm>
            <a:off x="6770082" y="877796"/>
            <a:ext cx="3366617" cy="2308324"/>
          </a:xfrm>
          <a:prstGeom prst="rect">
            <a:avLst/>
          </a:prstGeom>
          <a:noFill/>
        </p:spPr>
        <p:txBody>
          <a:bodyPr wrap="square" rtlCol="0">
            <a:spAutoFit/>
          </a:bodyPr>
          <a:lstStyle/>
          <a:p>
            <a:r>
              <a:rPr lang="fr-FR" sz="1200" dirty="0">
                <a:latin typeface="Quicksand Book" panose="02070303000000060000" pitchFamily="18" charset="0"/>
              </a:rPr>
              <a:t>Elle crée </a:t>
            </a:r>
            <a:r>
              <a:rPr lang="fr-FR" sz="1200" b="1" dirty="0">
                <a:latin typeface="Quicksand Bold" pitchFamily="50" charset="0"/>
              </a:rPr>
              <a:t>“un fil rouge”</a:t>
            </a:r>
            <a:r>
              <a:rPr lang="fr-FR" sz="1200" dirty="0">
                <a:latin typeface="Quicksand Bold" pitchFamily="50" charset="0"/>
              </a:rPr>
              <a:t> </a:t>
            </a:r>
            <a:r>
              <a:rPr lang="fr-FR" sz="1200" dirty="0">
                <a:latin typeface="Quicksand Book" panose="02070303000000060000" pitchFamily="18" charset="0"/>
              </a:rPr>
              <a:t>entre toutes les communications qui créent un lien au territoire.</a:t>
            </a:r>
          </a:p>
          <a:p>
            <a:pPr>
              <a:buFont typeface="Arial" panose="020B0604020202020204" pitchFamily="34" charset="0"/>
              <a:buChar char="•"/>
            </a:pPr>
            <a:r>
              <a:rPr lang="fr-FR" sz="1200" b="1" dirty="0">
                <a:latin typeface="Quicksand Book" panose="02070303000000060000" pitchFamily="18" charset="0"/>
              </a:rPr>
              <a:t> </a:t>
            </a:r>
            <a:r>
              <a:rPr lang="fr-FR" sz="1200" b="1" dirty="0">
                <a:latin typeface="Quicksand Bold" pitchFamily="50" charset="0"/>
              </a:rPr>
              <a:t>Elle symbolise le territoire</a:t>
            </a:r>
            <a:r>
              <a:rPr lang="fr-FR" sz="1200" dirty="0">
                <a:latin typeface="Quicksand Book" panose="02070303000000060000" pitchFamily="18" charset="0"/>
              </a:rPr>
              <a:t>, lui confère une valeur ajoutée qui lui apporte ce «sens» tant recherché par les clients aujourd’hui dans tous les domaines.</a:t>
            </a:r>
          </a:p>
          <a:p>
            <a:pPr>
              <a:buFont typeface="Arial" panose="020B0604020202020204" pitchFamily="34" charset="0"/>
              <a:buChar char="•"/>
            </a:pPr>
            <a:r>
              <a:rPr lang="fr-FR" sz="1200" b="1" dirty="0">
                <a:latin typeface="Quicksand Book" panose="02070303000000060000" pitchFamily="18" charset="0"/>
              </a:rPr>
              <a:t> </a:t>
            </a:r>
            <a:r>
              <a:rPr lang="fr-FR" sz="1200" b="1" dirty="0">
                <a:latin typeface="Quicksand Bold" pitchFamily="50" charset="0"/>
              </a:rPr>
              <a:t>Elle participe au renforcement de la fierté d’appartenance</a:t>
            </a:r>
            <a:r>
              <a:rPr lang="fr-FR" sz="1200" dirty="0">
                <a:latin typeface="Quicksand Book" panose="02070303000000060000" pitchFamily="18" charset="0"/>
              </a:rPr>
              <a:t>, à la mobilisation et à la fédération de ses acteurs les plus entreprenants.</a:t>
            </a:r>
          </a:p>
          <a:p>
            <a:endParaRPr lang="fr-FR" sz="1200" dirty="0">
              <a:latin typeface="Quicksand Book" panose="02070303000000060000" pitchFamily="18" charset="0"/>
            </a:endParaRPr>
          </a:p>
        </p:txBody>
      </p:sp>
      <p:cxnSp>
        <p:nvCxnSpPr>
          <p:cNvPr id="12" name="Connecteur droit 11">
            <a:extLst>
              <a:ext uri="{FF2B5EF4-FFF2-40B4-BE49-F238E27FC236}">
                <a16:creationId xmlns:a16="http://schemas.microsoft.com/office/drawing/2014/main" id="{BE541C5C-7C02-4531-A828-B2633972A9B3}"/>
              </a:ext>
            </a:extLst>
          </p:cNvPr>
          <p:cNvCxnSpPr/>
          <p:nvPr/>
        </p:nvCxnSpPr>
        <p:spPr>
          <a:xfrm>
            <a:off x="6593748" y="981512"/>
            <a:ext cx="0" cy="1963024"/>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pic>
        <p:nvPicPr>
          <p:cNvPr id="16" name="Image 15">
            <a:extLst>
              <a:ext uri="{FF2B5EF4-FFF2-40B4-BE49-F238E27FC236}">
                <a16:creationId xmlns:a16="http://schemas.microsoft.com/office/drawing/2014/main" id="{280DA69D-A165-41EC-9B16-9CDBCC1AA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2729" y="5120881"/>
            <a:ext cx="2137152" cy="1511213"/>
          </a:xfrm>
          <a:prstGeom prst="rect">
            <a:avLst/>
          </a:prstGeom>
        </p:spPr>
      </p:pic>
    </p:spTree>
    <p:extLst>
      <p:ext uri="{BB962C8B-B14F-4D97-AF65-F5344CB8AC3E}">
        <p14:creationId xmlns:p14="http://schemas.microsoft.com/office/powerpoint/2010/main" val="4102420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311116-FC0B-4244-8479-2FD8D14DEB23}"/>
              </a:ext>
            </a:extLst>
          </p:cNvPr>
          <p:cNvSpPr/>
          <p:nvPr/>
        </p:nvSpPr>
        <p:spPr>
          <a:xfrm>
            <a:off x="0" y="0"/>
            <a:ext cx="12192000" cy="6858000"/>
          </a:xfrm>
          <a:prstGeom prst="rect">
            <a:avLst/>
          </a:prstGeom>
          <a:solidFill>
            <a:srgbClr val="2229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2D8F1CA1-E862-486B-B375-930B87A14B12}"/>
              </a:ext>
            </a:extLst>
          </p:cNvPr>
          <p:cNvSpPr txBox="1"/>
          <p:nvPr/>
        </p:nvSpPr>
        <p:spPr>
          <a:xfrm>
            <a:off x="1314277" y="2598005"/>
            <a:ext cx="9563449" cy="830997"/>
          </a:xfrm>
          <a:prstGeom prst="rect">
            <a:avLst/>
          </a:prstGeom>
          <a:noFill/>
        </p:spPr>
        <p:txBody>
          <a:bodyPr wrap="square" rtlCol="0">
            <a:spAutoFit/>
          </a:bodyPr>
          <a:lstStyle/>
          <a:p>
            <a:pPr algn="ctr"/>
            <a:r>
              <a:rPr lang="fr-FR" sz="4800" dirty="0">
                <a:solidFill>
                  <a:schemeClr val="bg1"/>
                </a:solidFill>
                <a:latin typeface="Quicksand Bold" pitchFamily="50" charset="0"/>
              </a:rPr>
              <a:t>2. </a:t>
            </a:r>
            <a:r>
              <a:rPr lang="fr-FR" sz="4800" dirty="0">
                <a:solidFill>
                  <a:schemeClr val="bg1"/>
                </a:solidFill>
                <a:latin typeface="Quicksand Book" panose="02070303000000060000" pitchFamily="18" charset="0"/>
              </a:rPr>
              <a:t>Les financeurs</a:t>
            </a:r>
          </a:p>
        </p:txBody>
      </p:sp>
      <p:sp>
        <p:nvSpPr>
          <p:cNvPr id="4" name="ZoneTexte 3">
            <a:extLst>
              <a:ext uri="{FF2B5EF4-FFF2-40B4-BE49-F238E27FC236}">
                <a16:creationId xmlns:a16="http://schemas.microsoft.com/office/drawing/2014/main" id="{3264DAE3-63EA-4FA1-9543-5F77FC699F7A}"/>
              </a:ext>
            </a:extLst>
          </p:cNvPr>
          <p:cNvSpPr txBox="1"/>
          <p:nvPr/>
        </p:nvSpPr>
        <p:spPr>
          <a:xfrm>
            <a:off x="822122" y="5048076"/>
            <a:ext cx="8573548" cy="769441"/>
          </a:xfrm>
          <a:prstGeom prst="rect">
            <a:avLst/>
          </a:prstGeom>
          <a:noFill/>
        </p:spPr>
        <p:txBody>
          <a:bodyPr wrap="square" rtlCol="0">
            <a:spAutoFit/>
          </a:bodyPr>
          <a:lstStyle/>
          <a:p>
            <a:r>
              <a:rPr lang="fr-FR" sz="1100" dirty="0">
                <a:solidFill>
                  <a:schemeClr val="bg1"/>
                </a:solidFill>
                <a:effectLst/>
                <a:latin typeface="Quicksand Book" panose="02070303000000060000" pitchFamily="18" charset="0"/>
                <a:cs typeface="Arial" panose="020B0604020202020204" pitchFamily="34" charset="0"/>
              </a:rPr>
              <a:t>Tout bénéficiaire de subvention (association, entreprise, collectivité, etc.), à l’exception des particuliers et de certains dispositifs, doit mentionner le concours financier par une visibilité suffisante dans le respect de sa charte graphique. Il s’agit d’un engament contractuel qui doit être respecté.</a:t>
            </a:r>
          </a:p>
          <a:p>
            <a:r>
              <a:rPr lang="fr-FR" sz="1100" dirty="0">
                <a:solidFill>
                  <a:schemeClr val="bg1"/>
                </a:solidFill>
                <a:latin typeface="Quicksand Bold" pitchFamily="50" charset="0"/>
                <a:cs typeface="Arial" panose="020B0604020202020204" pitchFamily="34" charset="0"/>
              </a:rPr>
              <a:t>Les logos des financeurs doivent donc apparaître sur tous vos documents de communication externe. </a:t>
            </a:r>
          </a:p>
        </p:txBody>
      </p:sp>
      <p:sp>
        <p:nvSpPr>
          <p:cNvPr id="5" name="ZoneTexte 4">
            <a:extLst>
              <a:ext uri="{FF2B5EF4-FFF2-40B4-BE49-F238E27FC236}">
                <a16:creationId xmlns:a16="http://schemas.microsoft.com/office/drawing/2014/main" id="{FE811435-E1CC-44B4-B07B-37019A32D721}"/>
              </a:ext>
            </a:extLst>
          </p:cNvPr>
          <p:cNvSpPr txBox="1"/>
          <p:nvPr/>
        </p:nvSpPr>
        <p:spPr>
          <a:xfrm>
            <a:off x="822122" y="4589503"/>
            <a:ext cx="8513896" cy="369332"/>
          </a:xfrm>
          <a:prstGeom prst="rect">
            <a:avLst/>
          </a:prstGeom>
          <a:noFill/>
        </p:spPr>
        <p:txBody>
          <a:bodyPr wrap="square" rtlCol="0">
            <a:spAutoFit/>
          </a:bodyPr>
          <a:lstStyle/>
          <a:p>
            <a:r>
              <a:rPr lang="fr-FR" dirty="0">
                <a:solidFill>
                  <a:schemeClr val="bg1"/>
                </a:solidFill>
                <a:latin typeface="Quicksand Bold" pitchFamily="50" charset="0"/>
              </a:rPr>
              <a:t>Les obligations </a:t>
            </a:r>
            <a:r>
              <a:rPr lang="fr-FR" dirty="0">
                <a:solidFill>
                  <a:schemeClr val="bg1"/>
                </a:solidFill>
                <a:latin typeface="Quicksand Book" panose="02070303000000060000" pitchFamily="18" charset="0"/>
              </a:rPr>
              <a:t>– en bref </a:t>
            </a:r>
          </a:p>
        </p:txBody>
      </p:sp>
    </p:spTree>
    <p:extLst>
      <p:ext uri="{BB962C8B-B14F-4D97-AF65-F5344CB8AC3E}">
        <p14:creationId xmlns:p14="http://schemas.microsoft.com/office/powerpoint/2010/main" val="1812342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FD73F35-DB00-4D5A-B6C7-081EBAB6149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0919"/>
          <a:stretch/>
        </p:blipFill>
        <p:spPr>
          <a:xfrm>
            <a:off x="-55419" y="-16098"/>
            <a:ext cx="3407827" cy="6885708"/>
          </a:xfrm>
          <a:prstGeom prst="rect">
            <a:avLst/>
          </a:prstGeom>
        </p:spPr>
      </p:pic>
      <p:sp>
        <p:nvSpPr>
          <p:cNvPr id="5" name="ZoneTexte 4">
            <a:extLst>
              <a:ext uri="{FF2B5EF4-FFF2-40B4-BE49-F238E27FC236}">
                <a16:creationId xmlns:a16="http://schemas.microsoft.com/office/drawing/2014/main" id="{1B7DEA1D-0F9A-4A98-9EFD-9374223555C3}"/>
              </a:ext>
            </a:extLst>
          </p:cNvPr>
          <p:cNvSpPr txBox="1"/>
          <p:nvPr/>
        </p:nvSpPr>
        <p:spPr>
          <a:xfrm>
            <a:off x="288303" y="2293599"/>
            <a:ext cx="2796248" cy="1077218"/>
          </a:xfrm>
          <a:prstGeom prst="rect">
            <a:avLst/>
          </a:prstGeom>
          <a:noFill/>
        </p:spPr>
        <p:txBody>
          <a:bodyPr wrap="square" rtlCol="0">
            <a:spAutoFit/>
          </a:bodyPr>
          <a:lstStyle/>
          <a:p>
            <a:r>
              <a:rPr lang="fr-FR" sz="3200" dirty="0">
                <a:solidFill>
                  <a:schemeClr val="bg1"/>
                </a:solidFill>
                <a:latin typeface="Quicksand Book" pitchFamily="18" charset="0"/>
              </a:rPr>
              <a:t>Le </a:t>
            </a:r>
            <a:r>
              <a:rPr lang="fr-FR" sz="3200" b="1" dirty="0">
                <a:solidFill>
                  <a:srgbClr val="F9AF3C"/>
                </a:solidFill>
                <a:latin typeface="Quicksand Bold" pitchFamily="50" charset="0"/>
              </a:rPr>
              <a:t>#Révélateur</a:t>
            </a:r>
            <a:endParaRPr lang="fr-FR" sz="3200" b="1" dirty="0">
              <a:solidFill>
                <a:schemeClr val="bg1"/>
              </a:solidFill>
              <a:latin typeface="Quicksand Bold" pitchFamily="50" charset="0"/>
            </a:endParaRPr>
          </a:p>
        </p:txBody>
      </p:sp>
      <p:pic>
        <p:nvPicPr>
          <p:cNvPr id="10" name="Image 9">
            <a:extLst>
              <a:ext uri="{FF2B5EF4-FFF2-40B4-BE49-F238E27FC236}">
                <a16:creationId xmlns:a16="http://schemas.microsoft.com/office/drawing/2014/main" id="{B3307220-3677-4D6A-B845-2D33D764EA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0837" y="2573991"/>
            <a:ext cx="823080" cy="823080"/>
          </a:xfrm>
          <a:prstGeom prst="rect">
            <a:avLst/>
          </a:prstGeom>
        </p:spPr>
      </p:pic>
      <p:pic>
        <p:nvPicPr>
          <p:cNvPr id="11" name="Image 10">
            <a:extLst>
              <a:ext uri="{FF2B5EF4-FFF2-40B4-BE49-F238E27FC236}">
                <a16:creationId xmlns:a16="http://schemas.microsoft.com/office/drawing/2014/main" id="{3B79532A-45B9-40F7-BAE4-A0CF3F0B84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4611" y="2746365"/>
            <a:ext cx="580141" cy="502788"/>
          </a:xfrm>
          <a:prstGeom prst="rect">
            <a:avLst/>
          </a:prstGeom>
        </p:spPr>
      </p:pic>
      <p:pic>
        <p:nvPicPr>
          <p:cNvPr id="12" name="Image 11" descr="Une image contenant texte, hache&#10;&#10;Description générée automatiquement">
            <a:extLst>
              <a:ext uri="{FF2B5EF4-FFF2-40B4-BE49-F238E27FC236}">
                <a16:creationId xmlns:a16="http://schemas.microsoft.com/office/drawing/2014/main" id="{BF0063F9-C40A-4B78-9CCE-61E7D91321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7149" y="2746583"/>
            <a:ext cx="453063" cy="457071"/>
          </a:xfrm>
          <a:prstGeom prst="rect">
            <a:avLst/>
          </a:prstGeom>
        </p:spPr>
      </p:pic>
      <p:pic>
        <p:nvPicPr>
          <p:cNvPr id="18" name="Image 17">
            <a:extLst>
              <a:ext uri="{FF2B5EF4-FFF2-40B4-BE49-F238E27FC236}">
                <a16:creationId xmlns:a16="http://schemas.microsoft.com/office/drawing/2014/main" id="{0784E879-23BE-481D-A885-0A5F66AE5F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0837" y="3606328"/>
            <a:ext cx="823080" cy="823080"/>
          </a:xfrm>
          <a:prstGeom prst="rect">
            <a:avLst/>
          </a:prstGeom>
        </p:spPr>
      </p:pic>
      <p:pic>
        <p:nvPicPr>
          <p:cNvPr id="19" name="Image 18">
            <a:extLst>
              <a:ext uri="{FF2B5EF4-FFF2-40B4-BE49-F238E27FC236}">
                <a16:creationId xmlns:a16="http://schemas.microsoft.com/office/drawing/2014/main" id="{D12185C6-9B3F-4E5F-98FB-B07D047980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4611" y="3798407"/>
            <a:ext cx="580141" cy="502788"/>
          </a:xfrm>
          <a:prstGeom prst="rect">
            <a:avLst/>
          </a:prstGeom>
        </p:spPr>
      </p:pic>
      <p:pic>
        <p:nvPicPr>
          <p:cNvPr id="20" name="Image 19" descr="Une image contenant texte, hache&#10;&#10;Description générée automatiquement">
            <a:extLst>
              <a:ext uri="{FF2B5EF4-FFF2-40B4-BE49-F238E27FC236}">
                <a16:creationId xmlns:a16="http://schemas.microsoft.com/office/drawing/2014/main" id="{95240D8D-4E06-40DE-AB35-1C442AE2D1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7149" y="3798626"/>
            <a:ext cx="453063" cy="457071"/>
          </a:xfrm>
          <a:prstGeom prst="rect">
            <a:avLst/>
          </a:prstGeom>
        </p:spPr>
      </p:pic>
      <p:pic>
        <p:nvPicPr>
          <p:cNvPr id="22" name="Image 21">
            <a:extLst>
              <a:ext uri="{FF2B5EF4-FFF2-40B4-BE49-F238E27FC236}">
                <a16:creationId xmlns:a16="http://schemas.microsoft.com/office/drawing/2014/main" id="{3ACF1ADC-DB7C-4945-93C2-E346D37B81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0837" y="4792375"/>
            <a:ext cx="823080" cy="823080"/>
          </a:xfrm>
          <a:prstGeom prst="rect">
            <a:avLst/>
          </a:prstGeom>
        </p:spPr>
      </p:pic>
      <p:pic>
        <p:nvPicPr>
          <p:cNvPr id="23" name="Image 22">
            <a:extLst>
              <a:ext uri="{FF2B5EF4-FFF2-40B4-BE49-F238E27FC236}">
                <a16:creationId xmlns:a16="http://schemas.microsoft.com/office/drawing/2014/main" id="{6567C707-51EB-43DF-AD98-1C71E247AA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4611" y="4964747"/>
            <a:ext cx="580141" cy="502788"/>
          </a:xfrm>
          <a:prstGeom prst="rect">
            <a:avLst/>
          </a:prstGeom>
        </p:spPr>
      </p:pic>
      <p:pic>
        <p:nvPicPr>
          <p:cNvPr id="24" name="Image 23" descr="Une image contenant texte, hache&#10;&#10;Description générée automatiquement">
            <a:extLst>
              <a:ext uri="{FF2B5EF4-FFF2-40B4-BE49-F238E27FC236}">
                <a16:creationId xmlns:a16="http://schemas.microsoft.com/office/drawing/2014/main" id="{E907D9D3-838E-4538-9FFE-4FAAB03181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7149" y="4964966"/>
            <a:ext cx="453063" cy="457071"/>
          </a:xfrm>
          <a:prstGeom prst="rect">
            <a:avLst/>
          </a:prstGeom>
        </p:spPr>
      </p:pic>
      <p:pic>
        <p:nvPicPr>
          <p:cNvPr id="26" name="Image 25">
            <a:extLst>
              <a:ext uri="{FF2B5EF4-FFF2-40B4-BE49-F238E27FC236}">
                <a16:creationId xmlns:a16="http://schemas.microsoft.com/office/drawing/2014/main" id="{989924BC-48F0-44E7-BE2E-EE9B14B23C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08779" y="3796953"/>
            <a:ext cx="713300" cy="457289"/>
          </a:xfrm>
          <a:prstGeom prst="rect">
            <a:avLst/>
          </a:prstGeom>
        </p:spPr>
      </p:pic>
      <p:pic>
        <p:nvPicPr>
          <p:cNvPr id="27" name="Image 26">
            <a:extLst>
              <a:ext uri="{FF2B5EF4-FFF2-40B4-BE49-F238E27FC236}">
                <a16:creationId xmlns:a16="http://schemas.microsoft.com/office/drawing/2014/main" id="{6DD408D3-93BD-4693-B6C4-D0EAAFDF35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08779" y="2727229"/>
            <a:ext cx="713300" cy="476424"/>
          </a:xfrm>
          <a:prstGeom prst="rect">
            <a:avLst/>
          </a:prstGeom>
        </p:spPr>
      </p:pic>
      <p:pic>
        <p:nvPicPr>
          <p:cNvPr id="28" name="Image 27">
            <a:extLst>
              <a:ext uri="{FF2B5EF4-FFF2-40B4-BE49-F238E27FC236}">
                <a16:creationId xmlns:a16="http://schemas.microsoft.com/office/drawing/2014/main" id="{F2AC9C75-3121-44F6-9BB4-DE17D2263D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5531" y="1420119"/>
            <a:ext cx="823080" cy="823080"/>
          </a:xfrm>
          <a:prstGeom prst="rect">
            <a:avLst/>
          </a:prstGeom>
        </p:spPr>
      </p:pic>
      <p:pic>
        <p:nvPicPr>
          <p:cNvPr id="29" name="Image 28">
            <a:extLst>
              <a:ext uri="{FF2B5EF4-FFF2-40B4-BE49-F238E27FC236}">
                <a16:creationId xmlns:a16="http://schemas.microsoft.com/office/drawing/2014/main" id="{F7B0559A-B45C-4885-B60D-F5D81926DB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5246" y="1597959"/>
            <a:ext cx="580141" cy="502788"/>
          </a:xfrm>
          <a:prstGeom prst="rect">
            <a:avLst/>
          </a:prstGeom>
        </p:spPr>
      </p:pic>
      <p:pic>
        <p:nvPicPr>
          <p:cNvPr id="30" name="Image 29" descr="Une image contenant texte, hache&#10;&#10;Description générée automatiquement">
            <a:extLst>
              <a:ext uri="{FF2B5EF4-FFF2-40B4-BE49-F238E27FC236}">
                <a16:creationId xmlns:a16="http://schemas.microsoft.com/office/drawing/2014/main" id="{ED8DA6C1-417F-4A78-A0C8-F952341892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2698" y="1604238"/>
            <a:ext cx="453063" cy="457071"/>
          </a:xfrm>
          <a:prstGeom prst="rect">
            <a:avLst/>
          </a:prstGeom>
        </p:spPr>
      </p:pic>
      <p:pic>
        <p:nvPicPr>
          <p:cNvPr id="31" name="Image 30">
            <a:extLst>
              <a:ext uri="{FF2B5EF4-FFF2-40B4-BE49-F238E27FC236}">
                <a16:creationId xmlns:a16="http://schemas.microsoft.com/office/drawing/2014/main" id="{C4B43DA2-8AF3-4C02-9C6F-F4882F4372A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94623" y="1381489"/>
            <a:ext cx="685231" cy="991508"/>
          </a:xfrm>
          <a:prstGeom prst="rect">
            <a:avLst/>
          </a:prstGeom>
        </p:spPr>
      </p:pic>
      <p:pic>
        <p:nvPicPr>
          <p:cNvPr id="32" name="Image 31">
            <a:extLst>
              <a:ext uri="{FF2B5EF4-FFF2-40B4-BE49-F238E27FC236}">
                <a16:creationId xmlns:a16="http://schemas.microsoft.com/office/drawing/2014/main" id="{9D076DCB-A86B-4278-8D5C-42DFE0B522A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807859" y="3587377"/>
            <a:ext cx="685455" cy="994681"/>
          </a:xfrm>
          <a:prstGeom prst="rect">
            <a:avLst/>
          </a:prstGeom>
        </p:spPr>
      </p:pic>
      <p:pic>
        <p:nvPicPr>
          <p:cNvPr id="33" name="Image 32">
            <a:extLst>
              <a:ext uri="{FF2B5EF4-FFF2-40B4-BE49-F238E27FC236}">
                <a16:creationId xmlns:a16="http://schemas.microsoft.com/office/drawing/2014/main" id="{E1F5B5F5-F776-4682-97D5-C4E49C88640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807859" y="4674179"/>
            <a:ext cx="685455" cy="992375"/>
          </a:xfrm>
          <a:prstGeom prst="rect">
            <a:avLst/>
          </a:prstGeom>
        </p:spPr>
      </p:pic>
      <p:pic>
        <p:nvPicPr>
          <p:cNvPr id="34" name="Image 33">
            <a:extLst>
              <a:ext uri="{FF2B5EF4-FFF2-40B4-BE49-F238E27FC236}">
                <a16:creationId xmlns:a16="http://schemas.microsoft.com/office/drawing/2014/main" id="{4C605888-D983-4E72-B13E-3E25864E612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794624" y="2465117"/>
            <a:ext cx="711929" cy="1030139"/>
          </a:xfrm>
          <a:prstGeom prst="rect">
            <a:avLst/>
          </a:prstGeom>
        </p:spPr>
      </p:pic>
      <p:sp>
        <p:nvSpPr>
          <p:cNvPr id="35" name="ZoneTexte 34">
            <a:extLst>
              <a:ext uri="{FF2B5EF4-FFF2-40B4-BE49-F238E27FC236}">
                <a16:creationId xmlns:a16="http://schemas.microsoft.com/office/drawing/2014/main" id="{7D6648D1-A674-4C2B-BBE5-E761B62DD454}"/>
              </a:ext>
            </a:extLst>
          </p:cNvPr>
          <p:cNvSpPr txBox="1"/>
          <p:nvPr/>
        </p:nvSpPr>
        <p:spPr>
          <a:xfrm>
            <a:off x="3794621" y="616495"/>
            <a:ext cx="7047383" cy="584775"/>
          </a:xfrm>
          <a:prstGeom prst="rect">
            <a:avLst/>
          </a:prstGeom>
          <a:noFill/>
        </p:spPr>
        <p:txBody>
          <a:bodyPr wrap="square" rtlCol="0">
            <a:spAutoFit/>
          </a:bodyPr>
          <a:lstStyle/>
          <a:p>
            <a:r>
              <a:rPr lang="fr-FR" sz="1600" dirty="0">
                <a:solidFill>
                  <a:srgbClr val="F9AF3C"/>
                </a:solidFill>
                <a:latin typeface="Quicksand Bold" pitchFamily="50" charset="0"/>
              </a:rPr>
              <a:t>Les logos à afficher obligatoirement sur tous vos documents de communication externe.  </a:t>
            </a:r>
          </a:p>
        </p:txBody>
      </p:sp>
      <p:sp>
        <p:nvSpPr>
          <p:cNvPr id="37" name="ZoneTexte 36">
            <a:extLst>
              <a:ext uri="{FF2B5EF4-FFF2-40B4-BE49-F238E27FC236}">
                <a16:creationId xmlns:a16="http://schemas.microsoft.com/office/drawing/2014/main" id="{DDEB5A2E-1496-4531-A4C2-80C33FE1C2F7}"/>
              </a:ext>
            </a:extLst>
          </p:cNvPr>
          <p:cNvSpPr txBox="1"/>
          <p:nvPr/>
        </p:nvSpPr>
        <p:spPr>
          <a:xfrm>
            <a:off x="3794621" y="6160047"/>
            <a:ext cx="8088483" cy="415755"/>
          </a:xfrm>
          <a:prstGeom prst="rect">
            <a:avLst/>
          </a:prstGeom>
          <a:noFill/>
        </p:spPr>
        <p:txBody>
          <a:bodyPr wrap="square">
            <a:spAutoFit/>
          </a:bodyPr>
          <a:lstStyle/>
          <a:p>
            <a:r>
              <a:rPr lang="fr-FR" sz="1051" dirty="0">
                <a:latin typeface="Quicksand Book" panose="02070303000000060000" pitchFamily="18" charset="0"/>
              </a:rPr>
              <a:t>*Attention : les financeurs peuvent changer d’une année sur l’autre il faut donc vérifier la date de mise à jour de ce document. </a:t>
            </a:r>
          </a:p>
        </p:txBody>
      </p:sp>
      <p:sp>
        <p:nvSpPr>
          <p:cNvPr id="38" name="ZoneTexte 37">
            <a:extLst>
              <a:ext uri="{FF2B5EF4-FFF2-40B4-BE49-F238E27FC236}">
                <a16:creationId xmlns:a16="http://schemas.microsoft.com/office/drawing/2014/main" id="{A4BD9B0D-485C-4B29-8888-EECF76346C58}"/>
              </a:ext>
            </a:extLst>
          </p:cNvPr>
          <p:cNvSpPr txBox="1"/>
          <p:nvPr/>
        </p:nvSpPr>
        <p:spPr>
          <a:xfrm>
            <a:off x="10860763" y="2833654"/>
            <a:ext cx="1080952" cy="1015663"/>
          </a:xfrm>
          <a:prstGeom prst="rect">
            <a:avLst/>
          </a:prstGeom>
          <a:noFill/>
        </p:spPr>
        <p:txBody>
          <a:bodyPr wrap="square" rtlCol="0">
            <a:spAutoFit/>
          </a:bodyPr>
          <a:lstStyle/>
          <a:p>
            <a:pPr algn="ctr"/>
            <a:r>
              <a:rPr lang="fr-FR" sz="1200" dirty="0">
                <a:latin typeface="Quicksand Bold" pitchFamily="50" charset="0"/>
              </a:rPr>
              <a:t>Complétez avec vos financeurs locaux </a:t>
            </a:r>
          </a:p>
          <a:p>
            <a:pPr algn="ctr"/>
            <a:r>
              <a:rPr lang="fr-FR" sz="1200" dirty="0">
                <a:latin typeface="Quicksand Bold" pitchFamily="50" charset="0"/>
              </a:rPr>
              <a:t>si il y en a </a:t>
            </a:r>
          </a:p>
        </p:txBody>
      </p:sp>
      <p:sp>
        <p:nvSpPr>
          <p:cNvPr id="39" name="Accolade fermante 38">
            <a:extLst>
              <a:ext uri="{FF2B5EF4-FFF2-40B4-BE49-F238E27FC236}">
                <a16:creationId xmlns:a16="http://schemas.microsoft.com/office/drawing/2014/main" id="{5D34F440-8ED7-4BEB-8C27-D9D371122C6E}"/>
              </a:ext>
            </a:extLst>
          </p:cNvPr>
          <p:cNvSpPr/>
          <p:nvPr/>
        </p:nvSpPr>
        <p:spPr>
          <a:xfrm>
            <a:off x="9362313" y="1477716"/>
            <a:ext cx="1068835" cy="4053493"/>
          </a:xfrm>
          <a:prstGeom prst="rightBrace">
            <a:avLst>
              <a:gd name="adj1" fmla="val 8333"/>
              <a:gd name="adj2" fmla="val 45654"/>
            </a:avLst>
          </a:prstGeom>
          <a:ln w="19050">
            <a:solidFill>
              <a:srgbClr val="F9AF3C"/>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p>
        </p:txBody>
      </p:sp>
      <p:sp>
        <p:nvSpPr>
          <p:cNvPr id="42" name="ZoneTexte 41">
            <a:extLst>
              <a:ext uri="{FF2B5EF4-FFF2-40B4-BE49-F238E27FC236}">
                <a16:creationId xmlns:a16="http://schemas.microsoft.com/office/drawing/2014/main" id="{59C3C2DD-AD44-4253-8F99-041BE1E517A4}"/>
              </a:ext>
            </a:extLst>
          </p:cNvPr>
          <p:cNvSpPr txBox="1"/>
          <p:nvPr/>
        </p:nvSpPr>
        <p:spPr>
          <a:xfrm>
            <a:off x="10075612" y="2948036"/>
            <a:ext cx="1080952" cy="707886"/>
          </a:xfrm>
          <a:prstGeom prst="rect">
            <a:avLst/>
          </a:prstGeom>
          <a:noFill/>
        </p:spPr>
        <p:txBody>
          <a:bodyPr wrap="square" rtlCol="0">
            <a:spAutoFit/>
          </a:bodyPr>
          <a:lstStyle/>
          <a:p>
            <a:pPr algn="ctr"/>
            <a:r>
              <a:rPr lang="fr-FR" sz="4000" dirty="0">
                <a:latin typeface="Quicksand Bold" pitchFamily="50" charset="0"/>
              </a:rPr>
              <a:t>+</a:t>
            </a:r>
          </a:p>
        </p:txBody>
      </p:sp>
      <p:pic>
        <p:nvPicPr>
          <p:cNvPr id="3" name="Image 2">
            <a:extLst>
              <a:ext uri="{FF2B5EF4-FFF2-40B4-BE49-F238E27FC236}">
                <a16:creationId xmlns:a16="http://schemas.microsoft.com/office/drawing/2014/main" id="{982D59BE-A83B-4DC8-832B-0ED54F79310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11688" y="2626016"/>
            <a:ext cx="1026812" cy="719029"/>
          </a:xfrm>
          <a:prstGeom prst="rect">
            <a:avLst/>
          </a:prstGeom>
        </p:spPr>
      </p:pic>
      <p:pic>
        <p:nvPicPr>
          <p:cNvPr id="43" name="Image 42">
            <a:extLst>
              <a:ext uri="{FF2B5EF4-FFF2-40B4-BE49-F238E27FC236}">
                <a16:creationId xmlns:a16="http://schemas.microsoft.com/office/drawing/2014/main" id="{652E60A2-736F-4235-B01C-97844F96447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54504" y="3652965"/>
            <a:ext cx="1026812" cy="719029"/>
          </a:xfrm>
          <a:prstGeom prst="rect">
            <a:avLst/>
          </a:prstGeom>
        </p:spPr>
      </p:pic>
      <p:pic>
        <p:nvPicPr>
          <p:cNvPr id="44" name="Image 43">
            <a:extLst>
              <a:ext uri="{FF2B5EF4-FFF2-40B4-BE49-F238E27FC236}">
                <a16:creationId xmlns:a16="http://schemas.microsoft.com/office/drawing/2014/main" id="{E4811649-29E5-4F66-B40A-611AF103AC4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95263" y="4827922"/>
            <a:ext cx="1026812" cy="719029"/>
          </a:xfrm>
          <a:prstGeom prst="rect">
            <a:avLst/>
          </a:prstGeom>
        </p:spPr>
      </p:pic>
    </p:spTree>
    <p:extLst>
      <p:ext uri="{BB962C8B-B14F-4D97-AF65-F5344CB8AC3E}">
        <p14:creationId xmlns:p14="http://schemas.microsoft.com/office/powerpoint/2010/main" val="267682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FD73F35-DB00-4D5A-B6C7-081EBAB614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0919"/>
          <a:stretch/>
        </p:blipFill>
        <p:spPr>
          <a:xfrm>
            <a:off x="-55419" y="-16098"/>
            <a:ext cx="3407827" cy="6885708"/>
          </a:xfrm>
          <a:prstGeom prst="rect">
            <a:avLst/>
          </a:prstGeom>
        </p:spPr>
      </p:pic>
      <p:sp>
        <p:nvSpPr>
          <p:cNvPr id="5" name="ZoneTexte 4">
            <a:extLst>
              <a:ext uri="{FF2B5EF4-FFF2-40B4-BE49-F238E27FC236}">
                <a16:creationId xmlns:a16="http://schemas.microsoft.com/office/drawing/2014/main" id="{1B7DEA1D-0F9A-4A98-9EFD-9374223555C3}"/>
              </a:ext>
            </a:extLst>
          </p:cNvPr>
          <p:cNvSpPr txBox="1"/>
          <p:nvPr/>
        </p:nvSpPr>
        <p:spPr>
          <a:xfrm>
            <a:off x="128435" y="2543379"/>
            <a:ext cx="3040120" cy="584775"/>
          </a:xfrm>
          <a:prstGeom prst="rect">
            <a:avLst/>
          </a:prstGeom>
          <a:noFill/>
        </p:spPr>
        <p:txBody>
          <a:bodyPr wrap="square" rtlCol="0">
            <a:spAutoFit/>
          </a:bodyPr>
          <a:lstStyle/>
          <a:p>
            <a:pPr algn="r"/>
            <a:r>
              <a:rPr lang="fr-FR" sz="3200" dirty="0">
                <a:solidFill>
                  <a:schemeClr val="bg1"/>
                </a:solidFill>
                <a:latin typeface="Quicksand Bold" pitchFamily="50" charset="0"/>
              </a:rPr>
              <a:t>L’</a:t>
            </a:r>
            <a:r>
              <a:rPr lang="fr-FR" sz="3200" dirty="0">
                <a:solidFill>
                  <a:srgbClr val="F5A1E3"/>
                </a:solidFill>
                <a:latin typeface="Quicksand Bold" pitchFamily="50" charset="0"/>
              </a:rPr>
              <a:t>#Incubateur</a:t>
            </a:r>
            <a:endParaRPr lang="fr-FR" sz="3200" b="1" dirty="0">
              <a:solidFill>
                <a:schemeClr val="bg1"/>
              </a:solidFill>
              <a:latin typeface="Quicksand Bold" pitchFamily="50" charset="0"/>
            </a:endParaRPr>
          </a:p>
        </p:txBody>
      </p:sp>
      <p:pic>
        <p:nvPicPr>
          <p:cNvPr id="11" name="Image 10">
            <a:extLst>
              <a:ext uri="{FF2B5EF4-FFF2-40B4-BE49-F238E27FC236}">
                <a16:creationId xmlns:a16="http://schemas.microsoft.com/office/drawing/2014/main" id="{3B79532A-45B9-40F7-BAE4-A0CF3F0B84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459" y="2670865"/>
            <a:ext cx="580141" cy="502788"/>
          </a:xfrm>
          <a:prstGeom prst="rect">
            <a:avLst/>
          </a:prstGeom>
        </p:spPr>
      </p:pic>
      <p:pic>
        <p:nvPicPr>
          <p:cNvPr id="12" name="Image 11" descr="Une image contenant texte, hache&#10;&#10;Description générée automatiquement">
            <a:extLst>
              <a:ext uri="{FF2B5EF4-FFF2-40B4-BE49-F238E27FC236}">
                <a16:creationId xmlns:a16="http://schemas.microsoft.com/office/drawing/2014/main" id="{BF0063F9-C40A-4B78-9CCE-61E7D91321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3997" y="2671083"/>
            <a:ext cx="453063" cy="457071"/>
          </a:xfrm>
          <a:prstGeom prst="rect">
            <a:avLst/>
          </a:prstGeom>
        </p:spPr>
      </p:pic>
      <p:pic>
        <p:nvPicPr>
          <p:cNvPr id="19" name="Image 18">
            <a:extLst>
              <a:ext uri="{FF2B5EF4-FFF2-40B4-BE49-F238E27FC236}">
                <a16:creationId xmlns:a16="http://schemas.microsoft.com/office/drawing/2014/main" id="{D12185C6-9B3F-4E5F-98FB-B07D04798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459" y="3722907"/>
            <a:ext cx="580141" cy="502788"/>
          </a:xfrm>
          <a:prstGeom prst="rect">
            <a:avLst/>
          </a:prstGeom>
        </p:spPr>
      </p:pic>
      <p:pic>
        <p:nvPicPr>
          <p:cNvPr id="20" name="Image 19" descr="Une image contenant texte, hache&#10;&#10;Description générée automatiquement">
            <a:extLst>
              <a:ext uri="{FF2B5EF4-FFF2-40B4-BE49-F238E27FC236}">
                <a16:creationId xmlns:a16="http://schemas.microsoft.com/office/drawing/2014/main" id="{95240D8D-4E06-40DE-AB35-1C442AE2D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3997" y="3723126"/>
            <a:ext cx="453063" cy="457071"/>
          </a:xfrm>
          <a:prstGeom prst="rect">
            <a:avLst/>
          </a:prstGeom>
        </p:spPr>
      </p:pic>
      <p:pic>
        <p:nvPicPr>
          <p:cNvPr id="23" name="Image 22">
            <a:extLst>
              <a:ext uri="{FF2B5EF4-FFF2-40B4-BE49-F238E27FC236}">
                <a16:creationId xmlns:a16="http://schemas.microsoft.com/office/drawing/2014/main" id="{6567C707-51EB-43DF-AD98-1C71E247A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459" y="4889247"/>
            <a:ext cx="580141" cy="502788"/>
          </a:xfrm>
          <a:prstGeom prst="rect">
            <a:avLst/>
          </a:prstGeom>
        </p:spPr>
      </p:pic>
      <p:pic>
        <p:nvPicPr>
          <p:cNvPr id="24" name="Image 23" descr="Une image contenant texte, hache&#10;&#10;Description générée automatiquement">
            <a:extLst>
              <a:ext uri="{FF2B5EF4-FFF2-40B4-BE49-F238E27FC236}">
                <a16:creationId xmlns:a16="http://schemas.microsoft.com/office/drawing/2014/main" id="{E907D9D3-838E-4538-9FFE-4FAAB03181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3997" y="4889466"/>
            <a:ext cx="453063" cy="457071"/>
          </a:xfrm>
          <a:prstGeom prst="rect">
            <a:avLst/>
          </a:prstGeom>
        </p:spPr>
      </p:pic>
      <p:pic>
        <p:nvPicPr>
          <p:cNvPr id="29" name="Image 28">
            <a:extLst>
              <a:ext uri="{FF2B5EF4-FFF2-40B4-BE49-F238E27FC236}">
                <a16:creationId xmlns:a16="http://schemas.microsoft.com/office/drawing/2014/main" id="{F7B0559A-B45C-4885-B60D-F5D81926DB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459" y="1521475"/>
            <a:ext cx="580141" cy="502788"/>
          </a:xfrm>
          <a:prstGeom prst="rect">
            <a:avLst/>
          </a:prstGeom>
        </p:spPr>
      </p:pic>
      <p:pic>
        <p:nvPicPr>
          <p:cNvPr id="30" name="Image 29" descr="Une image contenant texte, hache&#10;&#10;Description générée automatiquement">
            <a:extLst>
              <a:ext uri="{FF2B5EF4-FFF2-40B4-BE49-F238E27FC236}">
                <a16:creationId xmlns:a16="http://schemas.microsoft.com/office/drawing/2014/main" id="{ED8DA6C1-417F-4A78-A0C8-F95234189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3997" y="1531927"/>
            <a:ext cx="453063" cy="457071"/>
          </a:xfrm>
          <a:prstGeom prst="rect">
            <a:avLst/>
          </a:prstGeom>
        </p:spPr>
      </p:pic>
      <p:pic>
        <p:nvPicPr>
          <p:cNvPr id="31" name="Image 30">
            <a:extLst>
              <a:ext uri="{FF2B5EF4-FFF2-40B4-BE49-F238E27FC236}">
                <a16:creationId xmlns:a16="http://schemas.microsoft.com/office/drawing/2014/main" id="{C4B43DA2-8AF3-4C02-9C6F-F4882F4372A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1471" y="1305989"/>
            <a:ext cx="685231" cy="991508"/>
          </a:xfrm>
          <a:prstGeom prst="rect">
            <a:avLst/>
          </a:prstGeom>
        </p:spPr>
      </p:pic>
      <p:pic>
        <p:nvPicPr>
          <p:cNvPr id="32" name="Image 31">
            <a:extLst>
              <a:ext uri="{FF2B5EF4-FFF2-40B4-BE49-F238E27FC236}">
                <a16:creationId xmlns:a16="http://schemas.microsoft.com/office/drawing/2014/main" id="{9D076DCB-A86B-4278-8D5C-42DFE0B522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34707" y="3511877"/>
            <a:ext cx="685455" cy="994681"/>
          </a:xfrm>
          <a:prstGeom prst="rect">
            <a:avLst/>
          </a:prstGeom>
        </p:spPr>
      </p:pic>
      <p:pic>
        <p:nvPicPr>
          <p:cNvPr id="33" name="Image 32">
            <a:extLst>
              <a:ext uri="{FF2B5EF4-FFF2-40B4-BE49-F238E27FC236}">
                <a16:creationId xmlns:a16="http://schemas.microsoft.com/office/drawing/2014/main" id="{E1F5B5F5-F776-4682-97D5-C4E49C8864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34707" y="4598679"/>
            <a:ext cx="685455" cy="992375"/>
          </a:xfrm>
          <a:prstGeom prst="rect">
            <a:avLst/>
          </a:prstGeom>
        </p:spPr>
      </p:pic>
      <p:pic>
        <p:nvPicPr>
          <p:cNvPr id="34" name="Image 33">
            <a:extLst>
              <a:ext uri="{FF2B5EF4-FFF2-40B4-BE49-F238E27FC236}">
                <a16:creationId xmlns:a16="http://schemas.microsoft.com/office/drawing/2014/main" id="{4C605888-D983-4E72-B13E-3E25864E61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21472" y="2389617"/>
            <a:ext cx="711929" cy="1030139"/>
          </a:xfrm>
          <a:prstGeom prst="rect">
            <a:avLst/>
          </a:prstGeom>
        </p:spPr>
      </p:pic>
      <p:sp>
        <p:nvSpPr>
          <p:cNvPr id="35" name="ZoneTexte 34">
            <a:extLst>
              <a:ext uri="{FF2B5EF4-FFF2-40B4-BE49-F238E27FC236}">
                <a16:creationId xmlns:a16="http://schemas.microsoft.com/office/drawing/2014/main" id="{7D6648D1-A674-4C2B-BBE5-E761B62DD454}"/>
              </a:ext>
            </a:extLst>
          </p:cNvPr>
          <p:cNvSpPr txBox="1"/>
          <p:nvPr/>
        </p:nvSpPr>
        <p:spPr>
          <a:xfrm>
            <a:off x="4121471" y="577640"/>
            <a:ext cx="7047383" cy="584775"/>
          </a:xfrm>
          <a:prstGeom prst="rect">
            <a:avLst/>
          </a:prstGeom>
          <a:noFill/>
        </p:spPr>
        <p:txBody>
          <a:bodyPr wrap="square" rtlCol="0">
            <a:spAutoFit/>
          </a:bodyPr>
          <a:lstStyle/>
          <a:p>
            <a:r>
              <a:rPr lang="fr-FR" sz="1600" dirty="0">
                <a:solidFill>
                  <a:srgbClr val="F5A1E3"/>
                </a:solidFill>
                <a:latin typeface="Quicksand Bold" pitchFamily="50" charset="0"/>
              </a:rPr>
              <a:t>Les logos à afficher obligatoirement sur tous vos documents de communication. </a:t>
            </a:r>
          </a:p>
        </p:txBody>
      </p:sp>
      <p:sp>
        <p:nvSpPr>
          <p:cNvPr id="37" name="ZoneTexte 36">
            <a:extLst>
              <a:ext uri="{FF2B5EF4-FFF2-40B4-BE49-F238E27FC236}">
                <a16:creationId xmlns:a16="http://schemas.microsoft.com/office/drawing/2014/main" id="{DDEB5A2E-1496-4531-A4C2-80C33FE1C2F7}"/>
              </a:ext>
            </a:extLst>
          </p:cNvPr>
          <p:cNvSpPr txBox="1"/>
          <p:nvPr/>
        </p:nvSpPr>
        <p:spPr>
          <a:xfrm>
            <a:off x="4134707" y="5830357"/>
            <a:ext cx="8088483" cy="415755"/>
          </a:xfrm>
          <a:prstGeom prst="rect">
            <a:avLst/>
          </a:prstGeom>
          <a:noFill/>
        </p:spPr>
        <p:txBody>
          <a:bodyPr wrap="square">
            <a:spAutoFit/>
          </a:bodyPr>
          <a:lstStyle/>
          <a:p>
            <a:r>
              <a:rPr lang="fr-FR" sz="1051" dirty="0">
                <a:latin typeface="Quicksand Book" panose="02070303000000060000" pitchFamily="18" charset="0"/>
              </a:rPr>
              <a:t>*Attention : les financeurs peuvent changer d’une année sur l’autre il faut donc vérifier la date de mise à jour de ce document.</a:t>
            </a:r>
          </a:p>
        </p:txBody>
      </p:sp>
      <p:pic>
        <p:nvPicPr>
          <p:cNvPr id="3" name="Image 2">
            <a:extLst>
              <a:ext uri="{FF2B5EF4-FFF2-40B4-BE49-F238E27FC236}">
                <a16:creationId xmlns:a16="http://schemas.microsoft.com/office/drawing/2014/main" id="{22D105B3-6086-4701-9FD8-FB028E61C3F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45373" y="2582802"/>
            <a:ext cx="981089" cy="706525"/>
          </a:xfrm>
          <a:prstGeom prst="rect">
            <a:avLst/>
          </a:prstGeom>
        </p:spPr>
      </p:pic>
      <p:pic>
        <p:nvPicPr>
          <p:cNvPr id="39" name="Image 38">
            <a:extLst>
              <a:ext uri="{FF2B5EF4-FFF2-40B4-BE49-F238E27FC236}">
                <a16:creationId xmlns:a16="http://schemas.microsoft.com/office/drawing/2014/main" id="{519B536F-151E-4046-A90D-1C9CA052BE8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25380" y="3601284"/>
            <a:ext cx="981089" cy="706525"/>
          </a:xfrm>
          <a:prstGeom prst="rect">
            <a:avLst/>
          </a:prstGeom>
        </p:spPr>
      </p:pic>
      <p:pic>
        <p:nvPicPr>
          <p:cNvPr id="40" name="Image 39">
            <a:extLst>
              <a:ext uri="{FF2B5EF4-FFF2-40B4-BE49-F238E27FC236}">
                <a16:creationId xmlns:a16="http://schemas.microsoft.com/office/drawing/2014/main" id="{DB1D8DF5-1FCA-4B76-89FF-9ABAA6209B8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54740" y="4697524"/>
            <a:ext cx="981089" cy="706525"/>
          </a:xfrm>
          <a:prstGeom prst="rect">
            <a:avLst/>
          </a:prstGeom>
        </p:spPr>
      </p:pic>
      <p:pic>
        <p:nvPicPr>
          <p:cNvPr id="41" name="Image 40">
            <a:extLst>
              <a:ext uri="{FF2B5EF4-FFF2-40B4-BE49-F238E27FC236}">
                <a16:creationId xmlns:a16="http://schemas.microsoft.com/office/drawing/2014/main" id="{219700FB-D576-48CC-8954-4AF9093C8A4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24886" y="1460191"/>
            <a:ext cx="981089" cy="706525"/>
          </a:xfrm>
          <a:prstGeom prst="rect">
            <a:avLst/>
          </a:prstGeom>
        </p:spPr>
      </p:pic>
      <p:pic>
        <p:nvPicPr>
          <p:cNvPr id="42" name="Image 41" descr="Une image contenant texte, clipart&#10;&#10;Description générée automatiquement">
            <a:extLst>
              <a:ext uri="{FF2B5EF4-FFF2-40B4-BE49-F238E27FC236}">
                <a16:creationId xmlns:a16="http://schemas.microsoft.com/office/drawing/2014/main" id="{D3E256EE-3048-4C25-ADA5-0FF7DA0A3C0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59455" y="3810084"/>
            <a:ext cx="960279" cy="292584"/>
          </a:xfrm>
          <a:prstGeom prst="rect">
            <a:avLst/>
          </a:prstGeom>
        </p:spPr>
      </p:pic>
      <p:pic>
        <p:nvPicPr>
          <p:cNvPr id="7" name="Image 6">
            <a:extLst>
              <a:ext uri="{FF2B5EF4-FFF2-40B4-BE49-F238E27FC236}">
                <a16:creationId xmlns:a16="http://schemas.microsoft.com/office/drawing/2014/main" id="{541B15AB-8C22-4840-A726-401231465BD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55181" y="1553840"/>
            <a:ext cx="862017" cy="392493"/>
          </a:xfrm>
          <a:prstGeom prst="rect">
            <a:avLst/>
          </a:prstGeom>
        </p:spPr>
      </p:pic>
      <p:sp>
        <p:nvSpPr>
          <p:cNvPr id="8" name="ZoneTexte 7">
            <a:extLst>
              <a:ext uri="{FF2B5EF4-FFF2-40B4-BE49-F238E27FC236}">
                <a16:creationId xmlns:a16="http://schemas.microsoft.com/office/drawing/2014/main" id="{3D2DB8F7-C1CB-4622-B1D8-F8D8F89EDD6E}"/>
              </a:ext>
            </a:extLst>
          </p:cNvPr>
          <p:cNvSpPr txBox="1"/>
          <p:nvPr/>
        </p:nvSpPr>
        <p:spPr>
          <a:xfrm>
            <a:off x="8355181" y="1978309"/>
            <a:ext cx="1291905" cy="215444"/>
          </a:xfrm>
          <a:prstGeom prst="rect">
            <a:avLst/>
          </a:prstGeom>
          <a:noFill/>
        </p:spPr>
        <p:txBody>
          <a:bodyPr wrap="square" rtlCol="0">
            <a:spAutoFit/>
          </a:bodyPr>
          <a:lstStyle/>
          <a:p>
            <a:r>
              <a:rPr lang="fr-FR" sz="800" dirty="0">
                <a:latin typeface="Quicksand Book" panose="02070303000000060000" pitchFamily="18" charset="0"/>
              </a:rPr>
              <a:t>Sous réserve </a:t>
            </a:r>
          </a:p>
        </p:txBody>
      </p:sp>
      <p:pic>
        <p:nvPicPr>
          <p:cNvPr id="6" name="Image 5" descr="Une image contenant texte, clipart&#10;&#10;Description générée automatiquement">
            <a:extLst>
              <a:ext uri="{FF2B5EF4-FFF2-40B4-BE49-F238E27FC236}">
                <a16:creationId xmlns:a16="http://schemas.microsoft.com/office/drawing/2014/main" id="{5BBD7BCE-2CE8-4BFF-8F03-AA5C667DF2C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98920" y="2660603"/>
            <a:ext cx="765002" cy="459001"/>
          </a:xfrm>
          <a:prstGeom prst="rect">
            <a:avLst/>
          </a:prstGeom>
        </p:spPr>
      </p:pic>
    </p:spTree>
    <p:extLst>
      <p:ext uri="{BB962C8B-B14F-4D97-AF65-F5344CB8AC3E}">
        <p14:creationId xmlns:p14="http://schemas.microsoft.com/office/powerpoint/2010/main" val="3284089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FD73F35-DB00-4D5A-B6C7-081EBAB614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0919"/>
          <a:stretch/>
        </p:blipFill>
        <p:spPr>
          <a:xfrm>
            <a:off x="-55419" y="-16098"/>
            <a:ext cx="3407827" cy="6885708"/>
          </a:xfrm>
          <a:prstGeom prst="rect">
            <a:avLst/>
          </a:prstGeom>
        </p:spPr>
      </p:pic>
      <p:sp>
        <p:nvSpPr>
          <p:cNvPr id="5" name="ZoneTexte 4">
            <a:extLst>
              <a:ext uri="{FF2B5EF4-FFF2-40B4-BE49-F238E27FC236}">
                <a16:creationId xmlns:a16="http://schemas.microsoft.com/office/drawing/2014/main" id="{1B7DEA1D-0F9A-4A98-9EFD-9374223555C3}"/>
              </a:ext>
            </a:extLst>
          </p:cNvPr>
          <p:cNvSpPr txBox="1"/>
          <p:nvPr/>
        </p:nvSpPr>
        <p:spPr>
          <a:xfrm>
            <a:off x="-55419" y="2565536"/>
            <a:ext cx="3040235" cy="646331"/>
          </a:xfrm>
          <a:prstGeom prst="rect">
            <a:avLst/>
          </a:prstGeom>
          <a:noFill/>
        </p:spPr>
        <p:txBody>
          <a:bodyPr wrap="square" rtlCol="0">
            <a:spAutoFit/>
          </a:bodyPr>
          <a:lstStyle/>
          <a:p>
            <a:pPr algn="r"/>
            <a:r>
              <a:rPr lang="fr-FR" sz="3600" dirty="0">
                <a:solidFill>
                  <a:schemeClr val="bg1"/>
                </a:solidFill>
                <a:latin typeface="Quicksand Book" panose="02070303000000060000" pitchFamily="18" charset="0"/>
              </a:rPr>
              <a:t>L’</a:t>
            </a:r>
            <a:r>
              <a:rPr lang="fr-FR" sz="3600" dirty="0">
                <a:solidFill>
                  <a:srgbClr val="5FB9C8"/>
                </a:solidFill>
                <a:latin typeface="Quicksand Bold" pitchFamily="50" charset="0"/>
              </a:rPr>
              <a:t>#Idéateur</a:t>
            </a:r>
            <a:endParaRPr lang="fr-FR" sz="3600" b="1" dirty="0">
              <a:solidFill>
                <a:schemeClr val="bg1"/>
              </a:solidFill>
              <a:latin typeface="Quicksand Bold" pitchFamily="50" charset="0"/>
            </a:endParaRPr>
          </a:p>
        </p:txBody>
      </p:sp>
      <p:pic>
        <p:nvPicPr>
          <p:cNvPr id="11" name="Image 10">
            <a:extLst>
              <a:ext uri="{FF2B5EF4-FFF2-40B4-BE49-F238E27FC236}">
                <a16:creationId xmlns:a16="http://schemas.microsoft.com/office/drawing/2014/main" id="{3B79532A-45B9-40F7-BAE4-A0CF3F0B84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5999" y="2637309"/>
            <a:ext cx="580141" cy="502788"/>
          </a:xfrm>
          <a:prstGeom prst="rect">
            <a:avLst/>
          </a:prstGeom>
        </p:spPr>
      </p:pic>
      <p:pic>
        <p:nvPicPr>
          <p:cNvPr id="12" name="Image 11" descr="Une image contenant texte, hache&#10;&#10;Description générée automatiquement">
            <a:extLst>
              <a:ext uri="{FF2B5EF4-FFF2-40B4-BE49-F238E27FC236}">
                <a16:creationId xmlns:a16="http://schemas.microsoft.com/office/drawing/2014/main" id="{BF0063F9-C40A-4B78-9CCE-61E7D91321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8537" y="2637527"/>
            <a:ext cx="453063" cy="457071"/>
          </a:xfrm>
          <a:prstGeom prst="rect">
            <a:avLst/>
          </a:prstGeom>
        </p:spPr>
      </p:pic>
      <p:pic>
        <p:nvPicPr>
          <p:cNvPr id="19" name="Image 18">
            <a:extLst>
              <a:ext uri="{FF2B5EF4-FFF2-40B4-BE49-F238E27FC236}">
                <a16:creationId xmlns:a16="http://schemas.microsoft.com/office/drawing/2014/main" id="{D12185C6-9B3F-4E5F-98FB-B07D04798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5999" y="3689351"/>
            <a:ext cx="580141" cy="502788"/>
          </a:xfrm>
          <a:prstGeom prst="rect">
            <a:avLst/>
          </a:prstGeom>
        </p:spPr>
      </p:pic>
      <p:pic>
        <p:nvPicPr>
          <p:cNvPr id="20" name="Image 19" descr="Une image contenant texte, hache&#10;&#10;Description générée automatiquement">
            <a:extLst>
              <a:ext uri="{FF2B5EF4-FFF2-40B4-BE49-F238E27FC236}">
                <a16:creationId xmlns:a16="http://schemas.microsoft.com/office/drawing/2014/main" id="{95240D8D-4E06-40DE-AB35-1C442AE2D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8537" y="3689570"/>
            <a:ext cx="453063" cy="457071"/>
          </a:xfrm>
          <a:prstGeom prst="rect">
            <a:avLst/>
          </a:prstGeom>
        </p:spPr>
      </p:pic>
      <p:pic>
        <p:nvPicPr>
          <p:cNvPr id="23" name="Image 22">
            <a:extLst>
              <a:ext uri="{FF2B5EF4-FFF2-40B4-BE49-F238E27FC236}">
                <a16:creationId xmlns:a16="http://schemas.microsoft.com/office/drawing/2014/main" id="{6567C707-51EB-43DF-AD98-1C71E247A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5999" y="4855691"/>
            <a:ext cx="580141" cy="502788"/>
          </a:xfrm>
          <a:prstGeom prst="rect">
            <a:avLst/>
          </a:prstGeom>
        </p:spPr>
      </p:pic>
      <p:pic>
        <p:nvPicPr>
          <p:cNvPr id="24" name="Image 23" descr="Une image contenant texte, hache&#10;&#10;Description générée automatiquement">
            <a:extLst>
              <a:ext uri="{FF2B5EF4-FFF2-40B4-BE49-F238E27FC236}">
                <a16:creationId xmlns:a16="http://schemas.microsoft.com/office/drawing/2014/main" id="{E907D9D3-838E-4538-9FFE-4FAAB03181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8537" y="4855910"/>
            <a:ext cx="453063" cy="457071"/>
          </a:xfrm>
          <a:prstGeom prst="rect">
            <a:avLst/>
          </a:prstGeom>
        </p:spPr>
      </p:pic>
      <p:pic>
        <p:nvPicPr>
          <p:cNvPr id="29" name="Image 28">
            <a:extLst>
              <a:ext uri="{FF2B5EF4-FFF2-40B4-BE49-F238E27FC236}">
                <a16:creationId xmlns:a16="http://schemas.microsoft.com/office/drawing/2014/main" id="{F7B0559A-B45C-4885-B60D-F5D81926DB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5999" y="1487919"/>
            <a:ext cx="580141" cy="502788"/>
          </a:xfrm>
          <a:prstGeom prst="rect">
            <a:avLst/>
          </a:prstGeom>
        </p:spPr>
      </p:pic>
      <p:pic>
        <p:nvPicPr>
          <p:cNvPr id="30" name="Image 29" descr="Une image contenant texte, hache&#10;&#10;Description générée automatiquement">
            <a:extLst>
              <a:ext uri="{FF2B5EF4-FFF2-40B4-BE49-F238E27FC236}">
                <a16:creationId xmlns:a16="http://schemas.microsoft.com/office/drawing/2014/main" id="{ED8DA6C1-417F-4A78-A0C8-F95234189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8537" y="1498371"/>
            <a:ext cx="453063" cy="457071"/>
          </a:xfrm>
          <a:prstGeom prst="rect">
            <a:avLst/>
          </a:prstGeom>
        </p:spPr>
      </p:pic>
      <p:pic>
        <p:nvPicPr>
          <p:cNvPr id="31" name="Image 30">
            <a:extLst>
              <a:ext uri="{FF2B5EF4-FFF2-40B4-BE49-F238E27FC236}">
                <a16:creationId xmlns:a16="http://schemas.microsoft.com/office/drawing/2014/main" id="{C4B43DA2-8AF3-4C02-9C6F-F4882F4372A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1471" y="1305989"/>
            <a:ext cx="685231" cy="991508"/>
          </a:xfrm>
          <a:prstGeom prst="rect">
            <a:avLst/>
          </a:prstGeom>
        </p:spPr>
      </p:pic>
      <p:pic>
        <p:nvPicPr>
          <p:cNvPr id="32" name="Image 31">
            <a:extLst>
              <a:ext uri="{FF2B5EF4-FFF2-40B4-BE49-F238E27FC236}">
                <a16:creationId xmlns:a16="http://schemas.microsoft.com/office/drawing/2014/main" id="{9D076DCB-A86B-4278-8D5C-42DFE0B522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34707" y="3511877"/>
            <a:ext cx="685455" cy="994681"/>
          </a:xfrm>
          <a:prstGeom prst="rect">
            <a:avLst/>
          </a:prstGeom>
        </p:spPr>
      </p:pic>
      <p:pic>
        <p:nvPicPr>
          <p:cNvPr id="33" name="Image 32">
            <a:extLst>
              <a:ext uri="{FF2B5EF4-FFF2-40B4-BE49-F238E27FC236}">
                <a16:creationId xmlns:a16="http://schemas.microsoft.com/office/drawing/2014/main" id="{E1F5B5F5-F776-4682-97D5-C4E49C8864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34707" y="4598679"/>
            <a:ext cx="685455" cy="992375"/>
          </a:xfrm>
          <a:prstGeom prst="rect">
            <a:avLst/>
          </a:prstGeom>
        </p:spPr>
      </p:pic>
      <p:pic>
        <p:nvPicPr>
          <p:cNvPr id="34" name="Image 33">
            <a:extLst>
              <a:ext uri="{FF2B5EF4-FFF2-40B4-BE49-F238E27FC236}">
                <a16:creationId xmlns:a16="http://schemas.microsoft.com/office/drawing/2014/main" id="{4C605888-D983-4E72-B13E-3E25864E61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21472" y="2389617"/>
            <a:ext cx="711929" cy="1030139"/>
          </a:xfrm>
          <a:prstGeom prst="rect">
            <a:avLst/>
          </a:prstGeom>
        </p:spPr>
      </p:pic>
      <p:sp>
        <p:nvSpPr>
          <p:cNvPr id="35" name="ZoneTexte 34">
            <a:extLst>
              <a:ext uri="{FF2B5EF4-FFF2-40B4-BE49-F238E27FC236}">
                <a16:creationId xmlns:a16="http://schemas.microsoft.com/office/drawing/2014/main" id="{7D6648D1-A674-4C2B-BBE5-E761B62DD454}"/>
              </a:ext>
            </a:extLst>
          </p:cNvPr>
          <p:cNvSpPr txBox="1"/>
          <p:nvPr/>
        </p:nvSpPr>
        <p:spPr>
          <a:xfrm>
            <a:off x="4059642" y="603902"/>
            <a:ext cx="7047383" cy="584775"/>
          </a:xfrm>
          <a:prstGeom prst="rect">
            <a:avLst/>
          </a:prstGeom>
          <a:noFill/>
        </p:spPr>
        <p:txBody>
          <a:bodyPr wrap="square" rtlCol="0">
            <a:spAutoFit/>
          </a:bodyPr>
          <a:lstStyle/>
          <a:p>
            <a:r>
              <a:rPr lang="fr-FR" sz="1600" dirty="0">
                <a:solidFill>
                  <a:srgbClr val="5FB9C8"/>
                </a:solidFill>
                <a:latin typeface="Quicksand Bold" pitchFamily="50" charset="0"/>
              </a:rPr>
              <a:t>Les logos à afficher obligatoirement sur tous vos documents de communication. </a:t>
            </a:r>
          </a:p>
        </p:txBody>
      </p:sp>
      <p:sp>
        <p:nvSpPr>
          <p:cNvPr id="37" name="ZoneTexte 36">
            <a:extLst>
              <a:ext uri="{FF2B5EF4-FFF2-40B4-BE49-F238E27FC236}">
                <a16:creationId xmlns:a16="http://schemas.microsoft.com/office/drawing/2014/main" id="{DDEB5A2E-1496-4531-A4C2-80C33FE1C2F7}"/>
              </a:ext>
            </a:extLst>
          </p:cNvPr>
          <p:cNvSpPr txBox="1"/>
          <p:nvPr/>
        </p:nvSpPr>
        <p:spPr>
          <a:xfrm>
            <a:off x="4134707" y="5830357"/>
            <a:ext cx="8088483" cy="415755"/>
          </a:xfrm>
          <a:prstGeom prst="rect">
            <a:avLst/>
          </a:prstGeom>
          <a:noFill/>
        </p:spPr>
        <p:txBody>
          <a:bodyPr wrap="square">
            <a:spAutoFit/>
          </a:bodyPr>
          <a:lstStyle/>
          <a:p>
            <a:r>
              <a:rPr lang="fr-FR" sz="1051" dirty="0">
                <a:latin typeface="Quicksand Book" panose="02070303000000060000" pitchFamily="18" charset="0"/>
              </a:rPr>
              <a:t>*Attention : les financeurs peuvent changer d’une année sur l’autre il faut donc vérifier la date de mise à jour de ce document.</a:t>
            </a:r>
          </a:p>
        </p:txBody>
      </p:sp>
      <p:pic>
        <p:nvPicPr>
          <p:cNvPr id="18" name="Image 17" descr="Une image contenant texte, clipart&#10;&#10;Description générée automatiquement">
            <a:extLst>
              <a:ext uri="{FF2B5EF4-FFF2-40B4-BE49-F238E27FC236}">
                <a16:creationId xmlns:a16="http://schemas.microsoft.com/office/drawing/2014/main" id="{8AF74EEE-8CC1-48FD-9EF4-051147047F9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33997" y="3732645"/>
            <a:ext cx="960279" cy="292584"/>
          </a:xfrm>
          <a:prstGeom prst="rect">
            <a:avLst/>
          </a:prstGeom>
        </p:spPr>
      </p:pic>
    </p:spTree>
    <p:extLst>
      <p:ext uri="{BB962C8B-B14F-4D97-AF65-F5344CB8AC3E}">
        <p14:creationId xmlns:p14="http://schemas.microsoft.com/office/powerpoint/2010/main" val="483125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311116-FC0B-4244-8479-2FD8D14DEB23}"/>
              </a:ext>
            </a:extLst>
          </p:cNvPr>
          <p:cNvSpPr/>
          <p:nvPr/>
        </p:nvSpPr>
        <p:spPr>
          <a:xfrm>
            <a:off x="0" y="0"/>
            <a:ext cx="12192000" cy="6858000"/>
          </a:xfrm>
          <a:prstGeom prst="rect">
            <a:avLst/>
          </a:prstGeom>
          <a:solidFill>
            <a:srgbClr val="2229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2D8F1CA1-E862-486B-B375-930B87A14B12}"/>
              </a:ext>
            </a:extLst>
          </p:cNvPr>
          <p:cNvSpPr txBox="1"/>
          <p:nvPr/>
        </p:nvSpPr>
        <p:spPr>
          <a:xfrm>
            <a:off x="1314277" y="2598005"/>
            <a:ext cx="9563449" cy="830997"/>
          </a:xfrm>
          <a:prstGeom prst="rect">
            <a:avLst/>
          </a:prstGeom>
          <a:noFill/>
        </p:spPr>
        <p:txBody>
          <a:bodyPr wrap="square" rtlCol="0">
            <a:spAutoFit/>
          </a:bodyPr>
          <a:lstStyle/>
          <a:p>
            <a:pPr algn="ctr"/>
            <a:r>
              <a:rPr lang="fr-FR" sz="4800" dirty="0">
                <a:solidFill>
                  <a:schemeClr val="bg1"/>
                </a:solidFill>
                <a:latin typeface="Quicksand Bold" pitchFamily="50" charset="0"/>
              </a:rPr>
              <a:t>3. </a:t>
            </a:r>
            <a:r>
              <a:rPr lang="fr-FR" sz="4800" dirty="0">
                <a:solidFill>
                  <a:schemeClr val="bg1"/>
                </a:solidFill>
                <a:latin typeface="Quicksand Book" panose="02070303000000060000" pitchFamily="18" charset="0"/>
              </a:rPr>
              <a:t>Les partenaires</a:t>
            </a:r>
          </a:p>
        </p:txBody>
      </p:sp>
      <p:sp>
        <p:nvSpPr>
          <p:cNvPr id="4" name="ZoneTexte 3">
            <a:extLst>
              <a:ext uri="{FF2B5EF4-FFF2-40B4-BE49-F238E27FC236}">
                <a16:creationId xmlns:a16="http://schemas.microsoft.com/office/drawing/2014/main" id="{A1D1C3B6-E60E-4C63-B844-CBD0B4C46EA9}"/>
              </a:ext>
            </a:extLst>
          </p:cNvPr>
          <p:cNvSpPr txBox="1"/>
          <p:nvPr/>
        </p:nvSpPr>
        <p:spPr>
          <a:xfrm>
            <a:off x="822122" y="5048076"/>
            <a:ext cx="8573548" cy="430887"/>
          </a:xfrm>
          <a:prstGeom prst="rect">
            <a:avLst/>
          </a:prstGeom>
          <a:noFill/>
        </p:spPr>
        <p:txBody>
          <a:bodyPr wrap="square" rtlCol="0">
            <a:spAutoFit/>
          </a:bodyPr>
          <a:lstStyle/>
          <a:p>
            <a:r>
              <a:rPr lang="fr-FR" sz="1100" dirty="0">
                <a:solidFill>
                  <a:schemeClr val="bg1"/>
                </a:solidFill>
                <a:effectLst/>
                <a:latin typeface="Quicksand Book" panose="02070303000000060000" pitchFamily="18" charset="0"/>
                <a:cs typeface="Arial" panose="020B0604020202020204" pitchFamily="34" charset="0"/>
              </a:rPr>
              <a:t>Il est conseillé d’afficher les partenaires avec qui on travail en coopération sur un documen</a:t>
            </a:r>
            <a:r>
              <a:rPr lang="fr-FR" sz="1100" dirty="0">
                <a:solidFill>
                  <a:schemeClr val="bg1"/>
                </a:solidFill>
                <a:latin typeface="Quicksand Book" panose="02070303000000060000" pitchFamily="18" charset="0"/>
                <a:cs typeface="Arial" panose="020B0604020202020204" pitchFamily="34" charset="0"/>
              </a:rPr>
              <a:t>t de communication. </a:t>
            </a:r>
          </a:p>
          <a:p>
            <a:r>
              <a:rPr lang="fr-FR" sz="1100" dirty="0">
                <a:solidFill>
                  <a:schemeClr val="bg1"/>
                </a:solidFill>
                <a:latin typeface="Quicksand Book" panose="02070303000000060000" pitchFamily="18" charset="0"/>
                <a:cs typeface="Arial" panose="020B0604020202020204" pitchFamily="34" charset="0"/>
              </a:rPr>
              <a:t>Les logos de nos partenaires sont à afficher lorsque l’on présente notre écosystème partenarial.</a:t>
            </a:r>
            <a:endParaRPr lang="fr-FR" sz="1100" dirty="0">
              <a:solidFill>
                <a:schemeClr val="bg1"/>
              </a:solidFill>
              <a:latin typeface="Quicksand Bold" pitchFamily="50" charset="0"/>
              <a:cs typeface="Arial" panose="020B0604020202020204" pitchFamily="34" charset="0"/>
            </a:endParaRPr>
          </a:p>
        </p:txBody>
      </p:sp>
      <p:sp>
        <p:nvSpPr>
          <p:cNvPr id="5" name="ZoneTexte 4">
            <a:extLst>
              <a:ext uri="{FF2B5EF4-FFF2-40B4-BE49-F238E27FC236}">
                <a16:creationId xmlns:a16="http://schemas.microsoft.com/office/drawing/2014/main" id="{E44B917C-A857-46E5-B2EB-DD9201F28BCA}"/>
              </a:ext>
            </a:extLst>
          </p:cNvPr>
          <p:cNvSpPr txBox="1"/>
          <p:nvPr/>
        </p:nvSpPr>
        <p:spPr>
          <a:xfrm>
            <a:off x="822122" y="4589503"/>
            <a:ext cx="8513896" cy="369332"/>
          </a:xfrm>
          <a:prstGeom prst="rect">
            <a:avLst/>
          </a:prstGeom>
          <a:noFill/>
        </p:spPr>
        <p:txBody>
          <a:bodyPr wrap="square" rtlCol="0">
            <a:spAutoFit/>
          </a:bodyPr>
          <a:lstStyle/>
          <a:p>
            <a:r>
              <a:rPr lang="fr-FR" dirty="0">
                <a:solidFill>
                  <a:schemeClr val="bg1"/>
                </a:solidFill>
                <a:latin typeface="Quicksand Bold" pitchFamily="50" charset="0"/>
              </a:rPr>
              <a:t>Les obligations </a:t>
            </a:r>
            <a:r>
              <a:rPr lang="fr-FR" dirty="0">
                <a:solidFill>
                  <a:schemeClr val="bg1"/>
                </a:solidFill>
                <a:latin typeface="Quicksand Book" panose="02070303000000060000" pitchFamily="18" charset="0"/>
              </a:rPr>
              <a:t>– en bref </a:t>
            </a:r>
          </a:p>
        </p:txBody>
      </p:sp>
    </p:spTree>
    <p:extLst>
      <p:ext uri="{BB962C8B-B14F-4D97-AF65-F5344CB8AC3E}">
        <p14:creationId xmlns:p14="http://schemas.microsoft.com/office/powerpoint/2010/main" val="2469632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ZoneTexte 15">
            <a:extLst>
              <a:ext uri="{FF2B5EF4-FFF2-40B4-BE49-F238E27FC236}">
                <a16:creationId xmlns:a16="http://schemas.microsoft.com/office/drawing/2014/main" id="{05392510-1EB5-444D-AF62-A24F2646BE88}"/>
              </a:ext>
            </a:extLst>
          </p:cNvPr>
          <p:cNvSpPr txBox="1"/>
          <p:nvPr/>
        </p:nvSpPr>
        <p:spPr>
          <a:xfrm>
            <a:off x="898286" y="656875"/>
            <a:ext cx="5692663" cy="400110"/>
          </a:xfrm>
          <a:prstGeom prst="rect">
            <a:avLst/>
          </a:prstGeom>
          <a:noFill/>
        </p:spPr>
        <p:txBody>
          <a:bodyPr wrap="square" rtlCol="0">
            <a:spAutoFit/>
          </a:bodyPr>
          <a:lstStyle/>
          <a:p>
            <a:r>
              <a:rPr lang="fr-FR" sz="2000" dirty="0">
                <a:solidFill>
                  <a:srgbClr val="222938"/>
                </a:solidFill>
                <a:latin typeface="Quicksand Bold" pitchFamily="50" charset="0"/>
              </a:rPr>
              <a:t>L’écosystème partenarial des TAg </a:t>
            </a:r>
          </a:p>
        </p:txBody>
      </p:sp>
      <p:sp>
        <p:nvSpPr>
          <p:cNvPr id="18" name="ZoneTexte 17">
            <a:extLst>
              <a:ext uri="{FF2B5EF4-FFF2-40B4-BE49-F238E27FC236}">
                <a16:creationId xmlns:a16="http://schemas.microsoft.com/office/drawing/2014/main" id="{9411E54B-F2B8-4A8D-8F4D-0B1B057792CB}"/>
              </a:ext>
            </a:extLst>
          </p:cNvPr>
          <p:cNvSpPr txBox="1"/>
          <p:nvPr/>
        </p:nvSpPr>
        <p:spPr>
          <a:xfrm>
            <a:off x="898286" y="1137633"/>
            <a:ext cx="9767843" cy="646331"/>
          </a:xfrm>
          <a:prstGeom prst="rect">
            <a:avLst/>
          </a:prstGeom>
          <a:noFill/>
        </p:spPr>
        <p:txBody>
          <a:bodyPr wrap="square" rtlCol="0">
            <a:spAutoFit/>
          </a:bodyPr>
          <a:lstStyle/>
          <a:p>
            <a:r>
              <a:rPr lang="fr-FR" sz="1200" dirty="0">
                <a:latin typeface="Quicksand Book" panose="02070303000000060000" pitchFamily="18" charset="0"/>
              </a:rPr>
              <a:t>Les </a:t>
            </a:r>
            <a:r>
              <a:rPr lang="fr-FR" sz="1200" dirty="0" err="1">
                <a:latin typeface="Quicksand Book" panose="02070303000000060000" pitchFamily="18" charset="0"/>
              </a:rPr>
              <a:t>TAgBZH</a:t>
            </a:r>
            <a:r>
              <a:rPr lang="fr-FR" sz="1200" dirty="0">
                <a:latin typeface="Quicksand Book" panose="02070303000000060000" pitchFamily="18" charset="0"/>
              </a:rPr>
              <a:t> s’appuient sur un réseau de partenaires, acteurs de la création d’activité en ESS et innovation sociale : les pôles de développement de l’ESS, France Active, l’Union régionale des SCOP, les Coopératives d’Activité et d’Emploi, </a:t>
            </a:r>
            <a:r>
              <a:rPr lang="fr-FR" sz="1200" dirty="0" err="1">
                <a:latin typeface="Quicksand Book" panose="02070303000000060000" pitchFamily="18" charset="0"/>
              </a:rPr>
              <a:t>Kejal</a:t>
            </a:r>
            <a:r>
              <a:rPr lang="fr-FR" sz="1200" dirty="0">
                <a:latin typeface="Quicksand Book" panose="02070303000000060000" pitchFamily="18" charset="0"/>
              </a:rPr>
              <a:t>, Entreprendre au Féminin Bretagne et la </a:t>
            </a:r>
            <a:r>
              <a:rPr lang="fr-FR" sz="1200" dirty="0" err="1">
                <a:latin typeface="Quicksand Book" panose="02070303000000060000" pitchFamily="18" charset="0"/>
              </a:rPr>
              <a:t>Cress</a:t>
            </a:r>
            <a:r>
              <a:rPr lang="fr-FR" sz="1200" dirty="0">
                <a:latin typeface="Quicksand Book" panose="02070303000000060000" pitchFamily="18" charset="0"/>
              </a:rPr>
              <a:t>.</a:t>
            </a:r>
          </a:p>
        </p:txBody>
      </p:sp>
      <p:pic>
        <p:nvPicPr>
          <p:cNvPr id="4" name="Image 3">
            <a:extLst>
              <a:ext uri="{FF2B5EF4-FFF2-40B4-BE49-F238E27FC236}">
                <a16:creationId xmlns:a16="http://schemas.microsoft.com/office/drawing/2014/main" id="{E81F160A-3F63-4A3A-9E9F-CBD0BA398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6873" y="2683791"/>
            <a:ext cx="1590262" cy="971136"/>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C805D6F2-9D2C-4D6A-9DB4-E63B1F736B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81982" y="2765805"/>
            <a:ext cx="2660630" cy="889122"/>
          </a:xfrm>
          <a:prstGeom prst="rect">
            <a:avLst/>
          </a:prstGeom>
        </p:spPr>
      </p:pic>
      <p:pic>
        <p:nvPicPr>
          <p:cNvPr id="23" name="Image 22">
            <a:extLst>
              <a:ext uri="{FF2B5EF4-FFF2-40B4-BE49-F238E27FC236}">
                <a16:creationId xmlns:a16="http://schemas.microsoft.com/office/drawing/2014/main" id="{1EBDC830-FB5F-4232-884D-3DF2E6A64A99}"/>
              </a:ext>
            </a:extLst>
          </p:cNvPr>
          <p:cNvPicPr>
            <a:picLocks noChangeAspect="1"/>
          </p:cNvPicPr>
          <p:nvPr/>
        </p:nvPicPr>
        <p:blipFill rotWithShape="1">
          <a:blip r:embed="rId5">
            <a:extLst>
              <a:ext uri="{28A0092B-C50C-407E-A947-70E740481C1C}">
                <a14:useLocalDpi xmlns:a14="http://schemas.microsoft.com/office/drawing/2010/main" val="0"/>
              </a:ext>
            </a:extLst>
          </a:blip>
          <a:srcRect r="45381"/>
          <a:stretch/>
        </p:blipFill>
        <p:spPr>
          <a:xfrm>
            <a:off x="6240679" y="2671686"/>
            <a:ext cx="1587064" cy="889122"/>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4CDF2A38-72A7-4FD7-9F63-71AF556318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36604" y="2718193"/>
            <a:ext cx="2376137" cy="902331"/>
          </a:xfrm>
          <a:prstGeom prst="rect">
            <a:avLst/>
          </a:prstGeom>
        </p:spPr>
      </p:pic>
      <p:pic>
        <p:nvPicPr>
          <p:cNvPr id="27" name="Image 26">
            <a:extLst>
              <a:ext uri="{FF2B5EF4-FFF2-40B4-BE49-F238E27FC236}">
                <a16:creationId xmlns:a16="http://schemas.microsoft.com/office/drawing/2014/main" id="{9ABA840E-DB7B-4170-85EB-B0706780C5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42721" y="4105776"/>
            <a:ext cx="1905550" cy="700751"/>
          </a:xfrm>
          <a:prstGeom prst="rect">
            <a:avLst/>
          </a:prstGeom>
        </p:spPr>
      </p:pic>
      <p:pic>
        <p:nvPicPr>
          <p:cNvPr id="29" name="Image 28">
            <a:extLst>
              <a:ext uri="{FF2B5EF4-FFF2-40B4-BE49-F238E27FC236}">
                <a16:creationId xmlns:a16="http://schemas.microsoft.com/office/drawing/2014/main" id="{FB4AD687-FEF7-4D66-8237-0AE9A3E6CE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53884" y="4031307"/>
            <a:ext cx="1137066" cy="738822"/>
          </a:xfrm>
          <a:prstGeom prst="rect">
            <a:avLst/>
          </a:prstGeom>
        </p:spPr>
      </p:pic>
      <p:pic>
        <p:nvPicPr>
          <p:cNvPr id="31" name="Image 30">
            <a:extLst>
              <a:ext uri="{FF2B5EF4-FFF2-40B4-BE49-F238E27FC236}">
                <a16:creationId xmlns:a16="http://schemas.microsoft.com/office/drawing/2014/main" id="{AF6554CD-524D-4269-B573-A1539C09A3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56286" y="3930121"/>
            <a:ext cx="1023265" cy="1023265"/>
          </a:xfrm>
          <a:prstGeom prst="rect">
            <a:avLst/>
          </a:prstGeom>
        </p:spPr>
      </p:pic>
      <p:sp>
        <p:nvSpPr>
          <p:cNvPr id="32" name="ZoneTexte 31">
            <a:extLst>
              <a:ext uri="{FF2B5EF4-FFF2-40B4-BE49-F238E27FC236}">
                <a16:creationId xmlns:a16="http://schemas.microsoft.com/office/drawing/2014/main" id="{5478CE5D-CE91-4F05-B8BA-34565CB4D17B}"/>
              </a:ext>
            </a:extLst>
          </p:cNvPr>
          <p:cNvSpPr txBox="1"/>
          <p:nvPr/>
        </p:nvSpPr>
        <p:spPr>
          <a:xfrm>
            <a:off x="4717795" y="6319949"/>
            <a:ext cx="3614104" cy="276999"/>
          </a:xfrm>
          <a:prstGeom prst="rect">
            <a:avLst/>
          </a:prstGeom>
          <a:noFill/>
        </p:spPr>
        <p:txBody>
          <a:bodyPr wrap="square" rtlCol="0">
            <a:spAutoFit/>
          </a:bodyPr>
          <a:lstStyle/>
          <a:p>
            <a:pPr algn="ctr"/>
            <a:r>
              <a:rPr lang="fr-FR" sz="1200" dirty="0">
                <a:latin typeface="Quicksand Bold" pitchFamily="50" charset="0"/>
              </a:rPr>
              <a:t>Complétez avec vos partenaires locaux </a:t>
            </a:r>
          </a:p>
        </p:txBody>
      </p:sp>
      <p:sp>
        <p:nvSpPr>
          <p:cNvPr id="33" name="Accolade fermante 32">
            <a:extLst>
              <a:ext uri="{FF2B5EF4-FFF2-40B4-BE49-F238E27FC236}">
                <a16:creationId xmlns:a16="http://schemas.microsoft.com/office/drawing/2014/main" id="{785AEE58-BA57-43AF-9847-95E1DB6CFFF5}"/>
              </a:ext>
            </a:extLst>
          </p:cNvPr>
          <p:cNvSpPr/>
          <p:nvPr/>
        </p:nvSpPr>
        <p:spPr>
          <a:xfrm rot="5400000">
            <a:off x="5535875" y="486146"/>
            <a:ext cx="1068835" cy="10003315"/>
          </a:xfrm>
          <a:prstGeom prst="rightBrace">
            <a:avLst>
              <a:gd name="adj1" fmla="val 8333"/>
              <a:gd name="adj2" fmla="val 45654"/>
            </a:avLst>
          </a:prstGeom>
          <a:ln w="19050">
            <a:solidFill>
              <a:srgbClr val="F9AF3C"/>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p>
        </p:txBody>
      </p:sp>
      <p:sp>
        <p:nvSpPr>
          <p:cNvPr id="34" name="ZoneTexte 33">
            <a:extLst>
              <a:ext uri="{FF2B5EF4-FFF2-40B4-BE49-F238E27FC236}">
                <a16:creationId xmlns:a16="http://schemas.microsoft.com/office/drawing/2014/main" id="{42936E6D-DA75-46FD-A9D1-8E5FE9C5D5CE}"/>
              </a:ext>
            </a:extLst>
          </p:cNvPr>
          <p:cNvSpPr txBox="1"/>
          <p:nvPr/>
        </p:nvSpPr>
        <p:spPr>
          <a:xfrm rot="5400000">
            <a:off x="5984371" y="5714645"/>
            <a:ext cx="1080952" cy="707886"/>
          </a:xfrm>
          <a:prstGeom prst="rect">
            <a:avLst/>
          </a:prstGeom>
          <a:noFill/>
        </p:spPr>
        <p:txBody>
          <a:bodyPr wrap="square" rtlCol="0">
            <a:spAutoFit/>
          </a:bodyPr>
          <a:lstStyle/>
          <a:p>
            <a:pPr algn="ctr"/>
            <a:r>
              <a:rPr lang="fr-FR" sz="4000" dirty="0">
                <a:latin typeface="Quicksand Bold" pitchFamily="50" charset="0"/>
              </a:rPr>
              <a:t>+</a:t>
            </a:r>
          </a:p>
        </p:txBody>
      </p:sp>
    </p:spTree>
    <p:extLst>
      <p:ext uri="{BB962C8B-B14F-4D97-AF65-F5344CB8AC3E}">
        <p14:creationId xmlns:p14="http://schemas.microsoft.com/office/powerpoint/2010/main" val="2249736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311116-FC0B-4244-8479-2FD8D14DEB23}"/>
              </a:ext>
            </a:extLst>
          </p:cNvPr>
          <p:cNvSpPr/>
          <p:nvPr/>
        </p:nvSpPr>
        <p:spPr>
          <a:xfrm>
            <a:off x="0" y="0"/>
            <a:ext cx="12192000" cy="6858000"/>
          </a:xfrm>
          <a:prstGeom prst="rect">
            <a:avLst/>
          </a:prstGeom>
          <a:solidFill>
            <a:srgbClr val="2229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2D8F1CA1-E862-486B-B375-930B87A14B12}"/>
              </a:ext>
            </a:extLst>
          </p:cNvPr>
          <p:cNvSpPr txBox="1"/>
          <p:nvPr/>
        </p:nvSpPr>
        <p:spPr>
          <a:xfrm>
            <a:off x="1314277" y="2598005"/>
            <a:ext cx="9563449" cy="830997"/>
          </a:xfrm>
          <a:prstGeom prst="rect">
            <a:avLst/>
          </a:prstGeom>
          <a:noFill/>
        </p:spPr>
        <p:txBody>
          <a:bodyPr wrap="square" rtlCol="0">
            <a:spAutoFit/>
          </a:bodyPr>
          <a:lstStyle/>
          <a:p>
            <a:pPr algn="ctr"/>
            <a:r>
              <a:rPr lang="fr-FR" sz="4800" dirty="0">
                <a:solidFill>
                  <a:schemeClr val="bg1"/>
                </a:solidFill>
                <a:latin typeface="Quicksand Bold" pitchFamily="50" charset="0"/>
              </a:rPr>
              <a:t>4. </a:t>
            </a:r>
            <a:r>
              <a:rPr lang="fr-FR" sz="4800" dirty="0" err="1">
                <a:solidFill>
                  <a:schemeClr val="bg1"/>
                </a:solidFill>
                <a:latin typeface="Quicksand Book" panose="02070303000000060000" pitchFamily="18" charset="0"/>
              </a:rPr>
              <a:t>TAgBZH</a:t>
            </a:r>
            <a:endParaRPr lang="fr-FR" sz="4800" dirty="0">
              <a:solidFill>
                <a:schemeClr val="bg1"/>
              </a:solidFill>
              <a:latin typeface="Quicksand Book" panose="02070303000000060000" pitchFamily="18" charset="0"/>
            </a:endParaRPr>
          </a:p>
        </p:txBody>
      </p:sp>
    </p:spTree>
    <p:extLst>
      <p:ext uri="{BB962C8B-B14F-4D97-AF65-F5344CB8AC3E}">
        <p14:creationId xmlns:p14="http://schemas.microsoft.com/office/powerpoint/2010/main" val="159452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1C061CB-D7CE-40FE-837B-6AFFF78C3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25449" y="2496355"/>
            <a:ext cx="1342917" cy="1943160"/>
          </a:xfrm>
          <a:prstGeom prst="rect">
            <a:avLst/>
          </a:prstGeom>
        </p:spPr>
      </p:pic>
      <p:pic>
        <p:nvPicPr>
          <p:cNvPr id="7" name="Image 6">
            <a:extLst>
              <a:ext uri="{FF2B5EF4-FFF2-40B4-BE49-F238E27FC236}">
                <a16:creationId xmlns:a16="http://schemas.microsoft.com/office/drawing/2014/main" id="{E348037E-AC01-4B78-B8A6-76733A1E1D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1419" y="2456571"/>
            <a:ext cx="1343355" cy="1949377"/>
          </a:xfrm>
          <a:prstGeom prst="rect">
            <a:avLst/>
          </a:prstGeom>
        </p:spPr>
      </p:pic>
      <p:pic>
        <p:nvPicPr>
          <p:cNvPr id="8" name="Image 7">
            <a:extLst>
              <a:ext uri="{FF2B5EF4-FFF2-40B4-BE49-F238E27FC236}">
                <a16:creationId xmlns:a16="http://schemas.microsoft.com/office/drawing/2014/main" id="{155ADBE4-AC52-4E09-972A-E8598739FB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3680" y="2456571"/>
            <a:ext cx="1343355" cy="1944858"/>
          </a:xfrm>
          <a:prstGeom prst="rect">
            <a:avLst/>
          </a:prstGeom>
        </p:spPr>
      </p:pic>
      <p:pic>
        <p:nvPicPr>
          <p:cNvPr id="9" name="Image 8">
            <a:extLst>
              <a:ext uri="{FF2B5EF4-FFF2-40B4-BE49-F238E27FC236}">
                <a16:creationId xmlns:a16="http://schemas.microsoft.com/office/drawing/2014/main" id="{5280630B-E75D-4B03-BB3B-5E89F1B3BD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7273" y="2456571"/>
            <a:ext cx="1395239" cy="2018867"/>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1925A659-39B4-4E17-A7F1-66B685AD11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91303" y="2456571"/>
            <a:ext cx="1395239" cy="2022728"/>
          </a:xfrm>
          <a:prstGeom prst="rect">
            <a:avLst/>
          </a:prstGeom>
        </p:spPr>
      </p:pic>
      <p:sp>
        <p:nvSpPr>
          <p:cNvPr id="13" name="ZoneTexte 12">
            <a:extLst>
              <a:ext uri="{FF2B5EF4-FFF2-40B4-BE49-F238E27FC236}">
                <a16:creationId xmlns:a16="http://schemas.microsoft.com/office/drawing/2014/main" id="{AFA96845-E2AD-4629-8201-E86D05ACBCBC}"/>
              </a:ext>
            </a:extLst>
          </p:cNvPr>
          <p:cNvSpPr txBox="1"/>
          <p:nvPr/>
        </p:nvSpPr>
        <p:spPr>
          <a:xfrm>
            <a:off x="898286" y="5630374"/>
            <a:ext cx="8924906" cy="461665"/>
          </a:xfrm>
          <a:prstGeom prst="rect">
            <a:avLst/>
          </a:prstGeom>
          <a:noFill/>
        </p:spPr>
        <p:txBody>
          <a:bodyPr wrap="square">
            <a:spAutoFit/>
          </a:bodyPr>
          <a:lstStyle/>
          <a:p>
            <a:r>
              <a:rPr lang="fr-FR" sz="1200" dirty="0">
                <a:latin typeface="Quicksand Book" panose="02070303000000060000" pitchFamily="18" charset="0"/>
              </a:rPr>
              <a:t>Les chartes graphiques de chaque TAg sont à retrouver dans la </a:t>
            </a:r>
            <a:r>
              <a:rPr lang="fr-FR" sz="1200" dirty="0" err="1">
                <a:latin typeface="Quicksand Bold" pitchFamily="50" charset="0"/>
              </a:rPr>
              <a:t>dropbox</a:t>
            </a:r>
            <a:r>
              <a:rPr lang="fr-FR" sz="1200" dirty="0">
                <a:latin typeface="Quicksand Bold" pitchFamily="50" charset="0"/>
              </a:rPr>
              <a:t> : </a:t>
            </a:r>
          </a:p>
          <a:p>
            <a:r>
              <a:rPr lang="fr-FR" sz="1200" dirty="0">
                <a:latin typeface="Quicksand Book" panose="02070303000000060000" pitchFamily="18" charset="0"/>
              </a:rPr>
              <a:t>Incubateurs\4. Communication\5. KIT Com Salarié-stagiaire\TAg56_KIT_COMMUNICATION_salarie_stagiaire</a:t>
            </a:r>
          </a:p>
        </p:txBody>
      </p:sp>
      <p:sp>
        <p:nvSpPr>
          <p:cNvPr id="14" name="ZoneTexte 13">
            <a:extLst>
              <a:ext uri="{FF2B5EF4-FFF2-40B4-BE49-F238E27FC236}">
                <a16:creationId xmlns:a16="http://schemas.microsoft.com/office/drawing/2014/main" id="{1DCE9797-85CC-4BEA-ABC5-62790CFE5AA4}"/>
              </a:ext>
            </a:extLst>
          </p:cNvPr>
          <p:cNvSpPr txBox="1"/>
          <p:nvPr/>
        </p:nvSpPr>
        <p:spPr>
          <a:xfrm>
            <a:off x="898286" y="656875"/>
            <a:ext cx="5692663" cy="400110"/>
          </a:xfrm>
          <a:prstGeom prst="rect">
            <a:avLst/>
          </a:prstGeom>
          <a:noFill/>
        </p:spPr>
        <p:txBody>
          <a:bodyPr wrap="square" rtlCol="0">
            <a:spAutoFit/>
          </a:bodyPr>
          <a:lstStyle/>
          <a:p>
            <a:r>
              <a:rPr lang="fr-FR" sz="2000" dirty="0">
                <a:solidFill>
                  <a:srgbClr val="222938"/>
                </a:solidFill>
                <a:latin typeface="Quicksand Bold" pitchFamily="50" charset="0"/>
              </a:rPr>
              <a:t>La charte graphique des TAg</a:t>
            </a:r>
          </a:p>
        </p:txBody>
      </p:sp>
      <p:sp>
        <p:nvSpPr>
          <p:cNvPr id="15" name="ZoneTexte 14">
            <a:extLst>
              <a:ext uri="{FF2B5EF4-FFF2-40B4-BE49-F238E27FC236}">
                <a16:creationId xmlns:a16="http://schemas.microsoft.com/office/drawing/2014/main" id="{1A5EC8D4-DEB4-4B31-8598-48E47A802860}"/>
              </a:ext>
            </a:extLst>
          </p:cNvPr>
          <p:cNvSpPr txBox="1"/>
          <p:nvPr/>
        </p:nvSpPr>
        <p:spPr>
          <a:xfrm>
            <a:off x="898286" y="1137633"/>
            <a:ext cx="9767843" cy="461665"/>
          </a:xfrm>
          <a:prstGeom prst="rect">
            <a:avLst/>
          </a:prstGeom>
          <a:noFill/>
        </p:spPr>
        <p:txBody>
          <a:bodyPr wrap="square" rtlCol="0">
            <a:spAutoFit/>
          </a:bodyPr>
          <a:lstStyle/>
          <a:p>
            <a:r>
              <a:rPr lang="fr-FR" sz="1200" dirty="0">
                <a:latin typeface="Quicksand Bold" pitchFamily="50" charset="0"/>
              </a:rPr>
              <a:t>Le logo </a:t>
            </a:r>
            <a:r>
              <a:rPr lang="fr-FR" sz="1200" dirty="0" err="1">
                <a:latin typeface="Quicksand Bold" pitchFamily="50" charset="0"/>
              </a:rPr>
              <a:t>TAgBZH</a:t>
            </a:r>
            <a:r>
              <a:rPr lang="fr-FR" sz="1200" dirty="0">
                <a:latin typeface="Quicksand Bold" pitchFamily="50" charset="0"/>
              </a:rPr>
              <a:t> est utilisé pour les outils de communication régionaux. </a:t>
            </a:r>
          </a:p>
          <a:p>
            <a:r>
              <a:rPr lang="fr-FR" sz="1200" dirty="0">
                <a:latin typeface="Quicksand Bold" pitchFamily="50" charset="0"/>
              </a:rPr>
              <a:t>Chaque TAg dispose ensuite d’une déclinaison locale pour la communication sur son département.</a:t>
            </a:r>
          </a:p>
        </p:txBody>
      </p:sp>
    </p:spTree>
    <p:extLst>
      <p:ext uri="{BB962C8B-B14F-4D97-AF65-F5344CB8AC3E}">
        <p14:creationId xmlns:p14="http://schemas.microsoft.com/office/powerpoint/2010/main" val="2737383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EE4CB67-D53B-4F21-BB15-B806A3AA0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5306" y="795776"/>
            <a:ext cx="3441388" cy="5088189"/>
          </a:xfrm>
          <a:prstGeom prst="rect">
            <a:avLst/>
          </a:prstGeom>
        </p:spPr>
      </p:pic>
    </p:spTree>
    <p:extLst>
      <p:ext uri="{BB962C8B-B14F-4D97-AF65-F5344CB8AC3E}">
        <p14:creationId xmlns:p14="http://schemas.microsoft.com/office/powerpoint/2010/main" val="394776143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958</TotalTime>
  <Words>740</Words>
  <Application>Microsoft Office PowerPoint</Application>
  <PresentationFormat>Grand écran</PresentationFormat>
  <Paragraphs>54</Paragraphs>
  <Slides>13</Slides>
  <Notes>2</Notes>
  <HiddenSlides>0</HiddenSlides>
  <MMClips>1</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Arial</vt:lpstr>
      <vt:lpstr>Calibri</vt:lpstr>
      <vt:lpstr>Calibri Light</vt:lpstr>
      <vt:lpstr>Quicksand Bold</vt:lpstr>
      <vt:lpstr>Quicksand Book</vt:lpstr>
      <vt:lpstr>Quicksand Dash</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logos </dc:title>
  <dc:creator>Marjorie HERVE</dc:creator>
  <cp:lastModifiedBy>Marjorie HERVE</cp:lastModifiedBy>
  <cp:revision>50</cp:revision>
  <dcterms:created xsi:type="dcterms:W3CDTF">2021-01-05T15:54:31Z</dcterms:created>
  <dcterms:modified xsi:type="dcterms:W3CDTF">2021-02-17T07:55:26Z</dcterms:modified>
</cp:coreProperties>
</file>