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6"/>
  </p:notesMasterIdLst>
  <p:sldIdLst>
    <p:sldId id="337" r:id="rId2"/>
    <p:sldId id="358" r:id="rId3"/>
    <p:sldId id="356" r:id="rId4"/>
    <p:sldId id="362" r:id="rId5"/>
    <p:sldId id="360" r:id="rId6"/>
    <p:sldId id="377" r:id="rId7"/>
    <p:sldId id="376" r:id="rId8"/>
    <p:sldId id="378" r:id="rId9"/>
    <p:sldId id="359" r:id="rId10"/>
    <p:sldId id="327" r:id="rId11"/>
    <p:sldId id="381" r:id="rId12"/>
    <p:sldId id="379" r:id="rId13"/>
    <p:sldId id="380" r:id="rId14"/>
    <p:sldId id="261" r:id="rId15"/>
    <p:sldId id="367" r:id="rId16"/>
    <p:sldId id="313" r:id="rId17"/>
    <p:sldId id="371" r:id="rId18"/>
    <p:sldId id="365" r:id="rId19"/>
    <p:sldId id="370" r:id="rId20"/>
    <p:sldId id="366" r:id="rId21"/>
    <p:sldId id="369" r:id="rId22"/>
    <p:sldId id="364" r:id="rId23"/>
    <p:sldId id="361" r:id="rId24"/>
    <p:sldId id="36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1E3"/>
    <a:srgbClr val="222938"/>
    <a:srgbClr val="5FB9C8"/>
    <a:srgbClr val="F9AF3C"/>
    <a:srgbClr val="ED943B"/>
    <a:srgbClr val="F07E38"/>
    <a:srgbClr val="F2A636"/>
    <a:srgbClr val="5BA58C"/>
    <a:srgbClr val="F0934E"/>
    <a:srgbClr val="FBBD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91" autoAdjust="0"/>
    <p:restoredTop sz="86377" autoAdjust="0"/>
  </p:normalViewPr>
  <p:slideViewPr>
    <p:cSldViewPr snapToGrid="0">
      <p:cViewPr varScale="1">
        <p:scale>
          <a:sx n="64" d="100"/>
          <a:sy n="64" d="100"/>
        </p:scale>
        <p:origin x="78" y="60"/>
      </p:cViewPr>
      <p:guideLst>
        <p:guide orient="horz" pos="2160"/>
        <p:guide pos="3840"/>
        <p:guide pos="2880"/>
      </p:guideLst>
    </p:cSldViewPr>
  </p:slideViewPr>
  <p:outlineViewPr>
    <p:cViewPr>
      <p:scale>
        <a:sx n="33" d="100"/>
        <a:sy n="33" d="100"/>
      </p:scale>
      <p:origin x="24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EFE38-76B3-471E-BF94-2E161B37C16B}" type="datetimeFigureOut">
              <a:rPr lang="fr-FR" smtClean="0"/>
              <a:t>20/03/2019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172C3-4AEA-4546-A3DF-82B2E852C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523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35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70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45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94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81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18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7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90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24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53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010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pPr/>
              <a:t>20/03/2019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71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1956432"/>
            <a:ext cx="9144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« </a:t>
            </a:r>
            <a:r>
              <a:rPr lang="fr-FR" sz="4000" dirty="0">
                <a:solidFill>
                  <a:srgbClr val="222938"/>
                </a:solidFill>
                <a:latin typeface="Quicksand Bold" pitchFamily="50" charset="0"/>
              </a:rPr>
              <a:t>TAg</a:t>
            </a: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 pour </a:t>
            </a:r>
            <a:r>
              <a:rPr lang="fr-FR" sz="4000" dirty="0">
                <a:solidFill>
                  <a:srgbClr val="222938"/>
                </a:solidFill>
                <a:latin typeface="Quicksand Bold" pitchFamily="50" charset="0"/>
              </a:rPr>
              <a:t>T</a:t>
            </a: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rajectoires </a:t>
            </a:r>
            <a:r>
              <a:rPr lang="fr-FR" sz="4000" dirty="0">
                <a:solidFill>
                  <a:srgbClr val="222938"/>
                </a:solidFill>
                <a:latin typeface="Quicksand Bold" pitchFamily="50" charset="0"/>
              </a:rPr>
              <a:t>Ag</a:t>
            </a: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iles. </a:t>
            </a:r>
          </a:p>
          <a:p>
            <a:pPr algn="ctr"/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Les trajectoires qu’empruntent </a:t>
            </a:r>
          </a:p>
          <a:p>
            <a:pPr algn="ctr"/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les idées bien menées </a:t>
            </a:r>
          </a:p>
          <a:p>
            <a:pPr algn="ctr"/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jusqu’à leur concrétisation »</a:t>
            </a:r>
          </a:p>
          <a:p>
            <a:pPr algn="ctr"/>
            <a:r>
              <a:rPr lang="fr-FR" sz="4000" dirty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326" y="5320925"/>
            <a:ext cx="648454" cy="1285200"/>
          </a:xfrm>
          <a:prstGeom prst="rect">
            <a:avLst/>
          </a:prstGeom>
        </p:spPr>
      </p:pic>
      <p:pic>
        <p:nvPicPr>
          <p:cNvPr id="6" name="Imag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0" y="5386576"/>
            <a:ext cx="1014202" cy="147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39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40" y="1221831"/>
            <a:ext cx="2800083" cy="41400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3768414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07755" y="1680507"/>
            <a:ext cx="24814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Le </a:t>
            </a:r>
            <a:r>
              <a:rPr lang="fr-FR" sz="2400" dirty="0">
                <a:solidFill>
                  <a:srgbClr val="F9AF3C"/>
                </a:solidFill>
                <a:latin typeface="Quicksand Book" pitchFamily="18" charset="0"/>
              </a:rPr>
              <a:t>#Révélateur </a:t>
            </a:r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identifie un besoin du territoire et le propulse en projet d’entreprise collective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709599" y="1680507"/>
            <a:ext cx="50372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Accompagnement </a:t>
            </a:r>
            <a:r>
              <a:rPr lang="fr-FR" sz="2800" dirty="0">
                <a:solidFill>
                  <a:srgbClr val="F9AF3C"/>
                </a:solidFill>
                <a:latin typeface="Quicksand Book" panose="02070303000000060000" pitchFamily="18" charset="0"/>
              </a:rPr>
              <a:t>d’acteurs du </a:t>
            </a:r>
            <a:r>
              <a:rPr lang="fr-FR" sz="28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territoire</a:t>
            </a:r>
          </a:p>
          <a:p>
            <a:endParaRPr lang="fr-FR" sz="2800" dirty="0" smtClean="0">
              <a:solidFill>
                <a:srgbClr val="F9AF3C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détection 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des besoins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étude 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d’opportunité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choix 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du/des </a:t>
            </a: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porteur/s 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de projet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validation</a:t>
            </a:r>
          </a:p>
        </p:txBody>
      </p:sp>
      <p:pic>
        <p:nvPicPr>
          <p:cNvPr id="8" name="Image 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0" y="5386576"/>
            <a:ext cx="1014202" cy="14714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53539">
            <a:off x="7358817" y="2046087"/>
            <a:ext cx="1219445" cy="97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43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558835" y="1776759"/>
            <a:ext cx="22434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L’</a:t>
            </a:r>
            <a:r>
              <a:rPr lang="fr-FR" sz="2400" dirty="0">
                <a:solidFill>
                  <a:srgbClr val="5FB9C8"/>
                </a:solidFill>
                <a:latin typeface="Quicksand Book" pitchFamily="18" charset="0"/>
              </a:rPr>
              <a:t>#</a:t>
            </a:r>
            <a:r>
              <a:rPr lang="fr-FR" sz="2400" dirty="0" err="1">
                <a:solidFill>
                  <a:srgbClr val="5FB9C8"/>
                </a:solidFill>
                <a:latin typeface="Quicksand Book" pitchFamily="18" charset="0"/>
              </a:rPr>
              <a:t>Idéateur</a:t>
            </a:r>
            <a:r>
              <a:rPr lang="fr-FR" sz="2400" dirty="0">
                <a:solidFill>
                  <a:srgbClr val="5FB9C8"/>
                </a:solidFill>
                <a:latin typeface="Quicksand Book" pitchFamily="18" charset="0"/>
              </a:rPr>
              <a:t> </a:t>
            </a:r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propulse votre idée en projet concret d’entreprise collective</a:t>
            </a:r>
          </a:p>
          <a:p>
            <a:pPr algn="r"/>
            <a:endParaRPr lang="fr-FR" sz="2400" dirty="0">
              <a:solidFill>
                <a:schemeClr val="bg1"/>
              </a:solidFill>
              <a:latin typeface="Quicksand Book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721767" y="1684426"/>
            <a:ext cx="50372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5FB9C8"/>
                </a:solidFill>
                <a:latin typeface="Quicksand Book" panose="02070303000000060000" pitchFamily="18" charset="0"/>
              </a:rPr>
              <a:t>Accompagnement méthodologique (2 mois</a:t>
            </a:r>
            <a:r>
              <a:rPr lang="fr-FR" sz="28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)</a:t>
            </a:r>
          </a:p>
          <a:p>
            <a:endParaRPr lang="fr-FR" sz="2800" dirty="0">
              <a:solidFill>
                <a:srgbClr val="5FB9C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8 journées d’ateliers en collectif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présentation 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en </a:t>
            </a: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public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m</a:t>
            </a: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ise 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en réseau avec partenaires potentiels</a:t>
            </a:r>
          </a:p>
        </p:txBody>
      </p:sp>
      <p:pic>
        <p:nvPicPr>
          <p:cNvPr id="8" name="Image 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0" y="5386576"/>
            <a:ext cx="1014202" cy="14714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27145">
            <a:off x="7630279" y="2072141"/>
            <a:ext cx="1293844" cy="103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801665" y="985371"/>
            <a:ext cx="479298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F5A1E3"/>
                </a:solidFill>
                <a:latin typeface="Quicksand Book" panose="02070303000000060000" pitchFamily="18" charset="0"/>
              </a:rPr>
              <a:t>Accompagnement stratégique personnalisé et collectif (12 </a:t>
            </a:r>
            <a:r>
              <a:rPr lang="fr-FR" sz="2800" dirty="0" smtClean="0">
                <a:solidFill>
                  <a:srgbClr val="F5A1E3"/>
                </a:solidFill>
                <a:latin typeface="Quicksand Book" panose="02070303000000060000" pitchFamily="18" charset="0"/>
              </a:rPr>
              <a:t>mois</a:t>
            </a:r>
            <a:r>
              <a:rPr lang="fr-FR" sz="2800" dirty="0" smtClean="0">
                <a:solidFill>
                  <a:srgbClr val="F5A1E3"/>
                </a:solidFill>
                <a:latin typeface="Quicksand Book" panose="02070303000000060000" pitchFamily="18" charset="0"/>
              </a:rPr>
              <a:t>)</a:t>
            </a:r>
          </a:p>
          <a:p>
            <a:endParaRPr lang="fr-FR" sz="2800" dirty="0" smtClean="0">
              <a:solidFill>
                <a:srgbClr val="F5A1E3"/>
              </a:solidFill>
              <a:latin typeface="Quicksand Book" panose="02070303000000060000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fr-FR" sz="2400" b="1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prototypage</a:t>
            </a:r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 </a:t>
            </a:r>
          </a:p>
          <a:p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(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hébergement en </a:t>
            </a:r>
            <a:r>
              <a:rPr lang="fr-FR" sz="2400" dirty="0" err="1">
                <a:solidFill>
                  <a:srgbClr val="222938"/>
                </a:solidFill>
                <a:latin typeface="Quicksand Book" panose="02070303000000060000" pitchFamily="18" charset="0"/>
              </a:rPr>
              <a:t>coworking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, conseil et formations)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b="1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lancement </a:t>
            </a:r>
          </a:p>
          <a:p>
            <a:r>
              <a:rPr lang="fr-FR" sz="24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(</a:t>
            </a:r>
            <a:r>
              <a:rPr lang="fr-FR" sz="2400" dirty="0">
                <a:solidFill>
                  <a:srgbClr val="222938"/>
                </a:solidFill>
                <a:latin typeface="Quicksand Book" panose="02070303000000060000" pitchFamily="18" charset="0"/>
              </a:rPr>
              <a:t>aide à l’accès au financement, expertise, mise en réseau)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6190129" y="2122210"/>
            <a:ext cx="24173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L’</a:t>
            </a:r>
            <a:r>
              <a:rPr lang="fr-FR" sz="2400" dirty="0">
                <a:solidFill>
                  <a:srgbClr val="F5A1E3"/>
                </a:solidFill>
                <a:latin typeface="Quicksand Book" pitchFamily="18" charset="0"/>
              </a:rPr>
              <a:t>#Incubateur </a:t>
            </a:r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propulse votre création d’entreprise collective</a:t>
            </a:r>
          </a:p>
        </p:txBody>
      </p:sp>
      <p:pic>
        <p:nvPicPr>
          <p:cNvPr id="9" name="Image 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05" y="5386576"/>
            <a:ext cx="1014202" cy="147142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89259" flipV="1">
            <a:off x="2316" y="1652515"/>
            <a:ext cx="1176056" cy="93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0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28857" t="9143" r="29143" b="71047"/>
          <a:stretch/>
        </p:blipFill>
        <p:spPr bwMode="auto">
          <a:xfrm>
            <a:off x="2457935" y="436064"/>
            <a:ext cx="4948309" cy="1750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Image 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0" y="5386576"/>
            <a:ext cx="1014202" cy="1471424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4247" t="42648" r="73279" b="36565"/>
          <a:stretch/>
        </p:blipFill>
        <p:spPr bwMode="auto">
          <a:xfrm>
            <a:off x="156359" y="1985554"/>
            <a:ext cx="2899954" cy="2011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38006" t="43165" r="37839" b="35916"/>
          <a:stretch/>
        </p:blipFill>
        <p:spPr bwMode="auto">
          <a:xfrm>
            <a:off x="2781795" y="3681669"/>
            <a:ext cx="3542512" cy="2301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72524" t="40443" r="4238" b="37164"/>
          <a:stretch/>
        </p:blipFill>
        <p:spPr bwMode="auto">
          <a:xfrm>
            <a:off x="5878286" y="2441725"/>
            <a:ext cx="3055916" cy="2208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706" y="1059132"/>
            <a:ext cx="3044876" cy="4140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>
            <a:off x="-51515" y="-16098"/>
            <a:ext cx="3403924" cy="6890195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6314414" y="1737048"/>
            <a:ext cx="24687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contact@TAg22.fr</a:t>
            </a:r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Patrice </a:t>
            </a:r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HENAFF</a:t>
            </a: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Directeur</a:t>
            </a: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06 08 70 25 65</a:t>
            </a: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/>
            </a:r>
            <a:b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</a:br>
            <a:endParaRPr lang="fr-FR" dirty="0">
              <a:solidFill>
                <a:schemeClr val="bg1"/>
              </a:solidFill>
              <a:latin typeface="Quicksand Book" pitchFamily="18" charset="0"/>
            </a:endParaRPr>
          </a:p>
          <a:p>
            <a:endParaRPr lang="fr-FR" dirty="0">
              <a:solidFill>
                <a:schemeClr val="bg1"/>
              </a:solidFill>
              <a:latin typeface="Quicksand Book" pitchFamily="18" charset="0"/>
            </a:endParaRPr>
          </a:p>
          <a:p>
            <a:endParaRPr lang="fr-FR" dirty="0">
              <a:latin typeface="Quicksand Bold" pitchFamily="50" charset="0"/>
            </a:endParaRPr>
          </a:p>
          <a:p>
            <a:endParaRPr lang="fr-FR" dirty="0">
              <a:latin typeface="Quicksand Bold" pitchFamily="50" charset="0"/>
            </a:endParaRPr>
          </a:p>
          <a:p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81552" y="1860865"/>
            <a:ext cx="25764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Une équipe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de spécialistes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au service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de projets ancrés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sur le territoire</a:t>
            </a:r>
          </a:p>
        </p:txBody>
      </p:sp>
    </p:spTree>
    <p:extLst>
      <p:ext uri="{BB962C8B-B14F-4D97-AF65-F5344CB8AC3E}">
        <p14:creationId xmlns:p14="http://schemas.microsoft.com/office/powerpoint/2010/main" val="314860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12879" y="0"/>
            <a:ext cx="3365288" cy="6890195"/>
          </a:xfrm>
          <a:prstGeom prst="rect">
            <a:avLst/>
          </a:prstGeom>
        </p:spPr>
      </p:pic>
      <p:pic>
        <p:nvPicPr>
          <p:cNvPr id="14" name="Picture 2" descr="C:\Users\Utilisateur\Desktop\TAg BZH\tag29-rvb-signature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660706" y="1059132"/>
            <a:ext cx="2679834" cy="4140000"/>
          </a:xfrm>
          <a:prstGeom prst="rect">
            <a:avLst/>
          </a:prstGeom>
          <a:noFill/>
        </p:spPr>
      </p:pic>
      <p:sp>
        <p:nvSpPr>
          <p:cNvPr id="10" name="ZoneTexte 9"/>
          <p:cNvSpPr txBox="1"/>
          <p:nvPr/>
        </p:nvSpPr>
        <p:spPr>
          <a:xfrm>
            <a:off x="6340540" y="1360620"/>
            <a:ext cx="246871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r>
              <a:rPr lang="fr-FR" dirty="0">
                <a:solidFill>
                  <a:srgbClr val="222938"/>
                </a:solidFill>
                <a:latin typeface="Quicksand Bold" pitchFamily="50" charset="0"/>
              </a:rPr>
              <a:t>contact@TAg29.fr</a:t>
            </a: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Éliane LE DUFF</a:t>
            </a:r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, Coordinatrice </a:t>
            </a:r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du projet </a:t>
            </a: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09 81 71 87 </a:t>
            </a:r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49</a:t>
            </a:r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XXX </a:t>
            </a:r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YYYYY, Chargé de mission Révélateur </a:t>
            </a:r>
          </a:p>
          <a:p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/>
            </a:r>
            <a:b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</a:br>
            <a:endParaRPr lang="fr-FR" dirty="0">
              <a:solidFill>
                <a:schemeClr val="bg1"/>
              </a:solidFill>
              <a:latin typeface="Quicksand Book" pitchFamily="18" charset="0"/>
            </a:endParaRPr>
          </a:p>
          <a:p>
            <a:endParaRPr lang="fr-FR" dirty="0">
              <a:solidFill>
                <a:schemeClr val="bg1"/>
              </a:solidFill>
              <a:latin typeface="Quicksand Book" pitchFamily="18" charset="0"/>
            </a:endParaRPr>
          </a:p>
          <a:p>
            <a:endParaRPr lang="fr-FR" dirty="0">
              <a:latin typeface="Quicksand Bold" pitchFamily="50" charset="0"/>
            </a:endParaRPr>
          </a:p>
          <a:p>
            <a:endParaRPr lang="fr-FR" dirty="0">
              <a:latin typeface="Quicksand Bold" pitchFamily="50" charset="0"/>
            </a:endParaRPr>
          </a:p>
          <a:p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81552" y="1860865"/>
            <a:ext cx="25764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Une équipe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de spécialistes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au service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de projets ancrés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sur le territoire</a:t>
            </a:r>
          </a:p>
        </p:txBody>
      </p:sp>
    </p:spTree>
    <p:extLst>
      <p:ext uri="{BB962C8B-B14F-4D97-AF65-F5344CB8AC3E}">
        <p14:creationId xmlns:p14="http://schemas.microsoft.com/office/powerpoint/2010/main" val="529646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Utilisateur\Desktop\TAg BZH\tag35-rvb-signature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660706" y="1059132"/>
            <a:ext cx="2800083" cy="4140000"/>
          </a:xfrm>
          <a:prstGeom prst="rect">
            <a:avLst/>
          </a:prstGeom>
          <a:noFill/>
        </p:spPr>
      </p:pic>
      <p:pic>
        <p:nvPicPr>
          <p:cNvPr id="6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>
            <a:off x="-55418" y="-16098"/>
            <a:ext cx="3407827" cy="6890195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6340540" y="1360620"/>
            <a:ext cx="24687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contact@TAg35.fr</a:t>
            </a:r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Assia AÏCH</a:t>
            </a:r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, Directrice </a:t>
            </a:r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&amp; Responsable Emergence</a:t>
            </a:r>
          </a:p>
          <a:p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06 </a:t>
            </a:r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38 76 98 </a:t>
            </a:r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51</a:t>
            </a: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/>
            </a:r>
            <a:b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</a:br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Gaël HELARY, </a:t>
            </a: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Responsable</a:t>
            </a: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dirty="0">
                <a:solidFill>
                  <a:srgbClr val="222938"/>
                </a:solidFill>
                <a:latin typeface="Quicksand Book" panose="02070303000000060000" pitchFamily="18" charset="0"/>
              </a:rPr>
              <a:t>06 73 89 46 47</a:t>
            </a:r>
          </a:p>
          <a:p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/>
            </a:r>
            <a:b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</a:br>
            <a:endParaRPr lang="fr-FR" dirty="0">
              <a:solidFill>
                <a:srgbClr val="222938"/>
              </a:solidFill>
              <a:latin typeface="Quicksand Book" pitchFamily="18" charset="0"/>
            </a:endParaRPr>
          </a:p>
          <a:p>
            <a:endParaRPr lang="fr-FR" dirty="0">
              <a:solidFill>
                <a:srgbClr val="222938"/>
              </a:solidFill>
              <a:latin typeface="Quicksand Book" pitchFamily="18" charset="0"/>
            </a:endParaRPr>
          </a:p>
          <a:p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81552" y="1860865"/>
            <a:ext cx="25764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Une équipe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de spécialistes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au service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de projets ancrés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sur le territoire</a:t>
            </a:r>
          </a:p>
        </p:txBody>
      </p:sp>
    </p:spTree>
    <p:extLst>
      <p:ext uri="{BB962C8B-B14F-4D97-AF65-F5344CB8AC3E}">
        <p14:creationId xmlns:p14="http://schemas.microsoft.com/office/powerpoint/2010/main" val="2961393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C:\Users\Utilisateur\Desktop\TAg BZH\tag56-rvb-signature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660706" y="1059132"/>
            <a:ext cx="2800083" cy="4140000"/>
          </a:xfrm>
          <a:prstGeom prst="rect">
            <a:avLst/>
          </a:prstGeom>
          <a:noFill/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>
            <a:off x="-13253" y="-2197"/>
            <a:ext cx="3374639" cy="6876294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6262163" y="1450791"/>
            <a:ext cx="24687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222938"/>
                </a:solidFill>
                <a:latin typeface="Quicksand Bold" pitchFamily="50" charset="0"/>
              </a:rPr>
              <a:t>contact@TAg56.fr</a:t>
            </a:r>
          </a:p>
          <a:p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r>
              <a:rPr lang="fr-FR" b="1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Karine BESSE</a:t>
            </a:r>
            <a:r>
              <a:rPr lang="fr-FR" b="1" dirty="0">
                <a:solidFill>
                  <a:srgbClr val="222938"/>
                </a:solidFill>
                <a:latin typeface="Quicksand Book" panose="02070303000000060000" pitchFamily="18" charset="0"/>
              </a:rPr>
              <a:t>, Coordinatrice TAg56</a:t>
            </a:r>
          </a:p>
          <a:p>
            <a:r>
              <a:rPr lang="fr-FR" b="1" dirty="0">
                <a:solidFill>
                  <a:srgbClr val="222938"/>
                </a:solidFill>
                <a:latin typeface="Quicksand Book" panose="02070303000000060000" pitchFamily="18" charset="0"/>
              </a:rPr>
              <a:t>06 63 80 41 </a:t>
            </a:r>
            <a:r>
              <a:rPr lang="fr-FR" b="1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48</a:t>
            </a:r>
          </a:p>
          <a:p>
            <a:endParaRPr lang="fr-FR" b="1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/>
            </a:r>
            <a:br>
              <a:rPr lang="fr-FR" dirty="0" smtClean="0">
                <a:solidFill>
                  <a:srgbClr val="222938"/>
                </a:solidFill>
                <a:latin typeface="Quicksand Book" panose="02070303000000060000" pitchFamily="18" charset="0"/>
              </a:rPr>
            </a:br>
            <a:endParaRPr lang="fr-FR" dirty="0">
              <a:solidFill>
                <a:srgbClr val="222938"/>
              </a:solidFill>
              <a:latin typeface="Quicksand Book" pitchFamily="18" charset="0"/>
            </a:endParaRPr>
          </a:p>
          <a:p>
            <a:endParaRPr lang="fr-FR" dirty="0">
              <a:solidFill>
                <a:srgbClr val="222938"/>
              </a:solidFill>
              <a:latin typeface="Quicksand Book" pitchFamily="18" charset="0"/>
            </a:endParaRPr>
          </a:p>
          <a:p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endParaRPr lang="fr-FR" dirty="0">
              <a:solidFill>
                <a:srgbClr val="222938"/>
              </a:solidFill>
              <a:latin typeface="Quicksand Bold" pitchFamily="50" charset="0"/>
            </a:endParaRP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81552" y="1860865"/>
            <a:ext cx="25764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Une équipe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de spécialistes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au service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de projets ancrés </a:t>
            </a:r>
          </a:p>
          <a:p>
            <a:pPr algn="r"/>
            <a:r>
              <a:rPr lang="fr-FR" sz="2400" dirty="0">
                <a:solidFill>
                  <a:schemeClr val="bg1"/>
                </a:solidFill>
                <a:latin typeface="Quicksand Book" pitchFamily="18" charset="0"/>
              </a:rPr>
              <a:t>sur le territoire</a:t>
            </a:r>
          </a:p>
        </p:txBody>
      </p:sp>
    </p:spTree>
    <p:extLst>
      <p:ext uri="{BB962C8B-B14F-4D97-AF65-F5344CB8AC3E}">
        <p14:creationId xmlns:p14="http://schemas.microsoft.com/office/powerpoint/2010/main" val="767015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000" y="1368000"/>
            <a:ext cx="3006000" cy="12240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0" y="5386576"/>
            <a:ext cx="1014202" cy="1471424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806498" y="1576292"/>
            <a:ext cx="2947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icksand Book" panose="02070303000000060000" pitchFamily="18" charset="0"/>
              </a:rPr>
              <a:t>Chiffres clés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918573" y="2401249"/>
            <a:ext cx="53221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/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En Bretagne: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projets accompagnés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entreprises propulsées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emplois créés</a:t>
            </a: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000" y="1368000"/>
            <a:ext cx="3163145" cy="122203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918573" y="2401249"/>
            <a:ext cx="53221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/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En Côtes d’Armor: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projets accompagnés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entreprises propulsées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emplois créés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806498" y="1576292"/>
            <a:ext cx="2947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icksand Book" panose="02070303000000060000" pitchFamily="18" charset="0"/>
              </a:rPr>
              <a:t>Chiffres clés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0" y="5385600"/>
            <a:ext cx="1017575" cy="14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2217579" y="826957"/>
            <a:ext cx="534450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5FB9C8"/>
                </a:solidFill>
                <a:latin typeface="Quicksand Book" panose="02070303000000060000" pitchFamily="18" charset="0"/>
              </a:rPr>
              <a:t>Quelques exemples de projets propulsés</a:t>
            </a:r>
            <a:endParaRPr lang="fr-FR" b="1" dirty="0">
              <a:latin typeface="Quicksand Book" pitchFamily="18" charset="0"/>
            </a:endParaRPr>
          </a:p>
          <a:p>
            <a:endParaRPr lang="fr-FR" b="1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1400" dirty="0">
              <a:latin typeface="Quicksand Book" pitchFamily="18" charset="0"/>
            </a:endParaRPr>
          </a:p>
        </p:txBody>
      </p:sp>
      <p:pic>
        <p:nvPicPr>
          <p:cNvPr id="13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2242067"/>
            <a:ext cx="1138656" cy="853992"/>
          </a:xfrm>
          <a:prstGeom prst="rect">
            <a:avLst/>
          </a:prstGeom>
          <a:noFill/>
        </p:spPr>
      </p:pic>
      <p:pic>
        <p:nvPicPr>
          <p:cNvPr id="8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3357635"/>
            <a:ext cx="1138656" cy="853992"/>
          </a:xfrm>
          <a:prstGeom prst="rect">
            <a:avLst/>
          </a:prstGeom>
          <a:noFill/>
        </p:spPr>
      </p:pic>
      <p:pic>
        <p:nvPicPr>
          <p:cNvPr id="9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4430531"/>
            <a:ext cx="1138656" cy="853992"/>
          </a:xfrm>
          <a:prstGeom prst="rect">
            <a:avLst/>
          </a:prstGeom>
          <a:noFill/>
        </p:spPr>
      </p:pic>
      <p:pic>
        <p:nvPicPr>
          <p:cNvPr id="10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5570483"/>
            <a:ext cx="1138656" cy="853992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39" y="4609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22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0" y="5385600"/>
            <a:ext cx="1017575" cy="14724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000" y="1368000"/>
            <a:ext cx="3163145" cy="122203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918573" y="2401249"/>
            <a:ext cx="53221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/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En Finistère: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projets accompagnés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entreprises propulsées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emplois créés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806498" y="1576292"/>
            <a:ext cx="2947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icksand Book" panose="02070303000000060000" pitchFamily="18" charset="0"/>
              </a:rPr>
              <a:t>Chiffres clés</a:t>
            </a: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2217579" y="826957"/>
            <a:ext cx="534450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F9AF3C"/>
                </a:solidFill>
                <a:latin typeface="Quicksand Book" panose="02070303000000060000" pitchFamily="18" charset="0"/>
              </a:rPr>
              <a:t>Quelques exemples de projets propulsés</a:t>
            </a:r>
            <a:endParaRPr lang="fr-FR" b="1" dirty="0">
              <a:solidFill>
                <a:srgbClr val="F9AF3C"/>
              </a:solidFill>
              <a:latin typeface="Quicksand Book" pitchFamily="18" charset="0"/>
            </a:endParaRPr>
          </a:p>
          <a:p>
            <a:endParaRPr lang="fr-FR" b="1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1400" dirty="0">
              <a:latin typeface="Quicksand Book" pitchFamily="18" charset="0"/>
            </a:endParaRPr>
          </a:p>
        </p:txBody>
      </p:sp>
      <p:pic>
        <p:nvPicPr>
          <p:cNvPr id="13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2242067"/>
            <a:ext cx="1138656" cy="853992"/>
          </a:xfrm>
          <a:prstGeom prst="rect">
            <a:avLst/>
          </a:prstGeom>
          <a:noFill/>
        </p:spPr>
      </p:pic>
      <p:pic>
        <p:nvPicPr>
          <p:cNvPr id="8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3357635"/>
            <a:ext cx="1138656" cy="853992"/>
          </a:xfrm>
          <a:prstGeom prst="rect">
            <a:avLst/>
          </a:prstGeom>
          <a:noFill/>
        </p:spPr>
      </p:pic>
      <p:pic>
        <p:nvPicPr>
          <p:cNvPr id="9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4430531"/>
            <a:ext cx="1138656" cy="853992"/>
          </a:xfrm>
          <a:prstGeom prst="rect">
            <a:avLst/>
          </a:prstGeom>
          <a:noFill/>
        </p:spPr>
      </p:pic>
      <p:pic>
        <p:nvPicPr>
          <p:cNvPr id="10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5570483"/>
            <a:ext cx="1138656" cy="853992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99" y="802067"/>
            <a:ext cx="144127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22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99" y="1368000"/>
            <a:ext cx="3163145" cy="122203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918573" y="2401249"/>
            <a:ext cx="53221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/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En Ille-et-Vilaine: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projets accompagnés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entreprises propulsées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emplois créés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806498" y="1576292"/>
            <a:ext cx="2947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icksand Book" panose="02070303000000060000" pitchFamily="18" charset="0"/>
              </a:rPr>
              <a:t>Chiffres clés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1" y="5385600"/>
            <a:ext cx="1014659" cy="14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2217579" y="826957"/>
            <a:ext cx="534450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EB5B25"/>
                </a:solidFill>
                <a:latin typeface="Quicksand Book" panose="02070303000000060000" pitchFamily="18" charset="0"/>
              </a:rPr>
              <a:t>Quelques exemples de projets propulsés</a:t>
            </a:r>
            <a:endParaRPr lang="fr-FR" b="1" dirty="0">
              <a:solidFill>
                <a:srgbClr val="EB5B25"/>
              </a:solidFill>
              <a:latin typeface="Quicksand Book" pitchFamily="18" charset="0"/>
            </a:endParaRPr>
          </a:p>
          <a:p>
            <a:endParaRPr lang="fr-FR" b="1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1400" dirty="0">
              <a:latin typeface="Quicksand Book" pitchFamily="18" charset="0"/>
            </a:endParaRPr>
          </a:p>
        </p:txBody>
      </p:sp>
      <p:pic>
        <p:nvPicPr>
          <p:cNvPr id="13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2242067"/>
            <a:ext cx="1138656" cy="853992"/>
          </a:xfrm>
          <a:prstGeom prst="rect">
            <a:avLst/>
          </a:prstGeom>
          <a:noFill/>
        </p:spPr>
      </p:pic>
      <p:pic>
        <p:nvPicPr>
          <p:cNvPr id="8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3357635"/>
            <a:ext cx="1138656" cy="853992"/>
          </a:xfrm>
          <a:prstGeom prst="rect">
            <a:avLst/>
          </a:prstGeom>
          <a:noFill/>
        </p:spPr>
      </p:pic>
      <p:pic>
        <p:nvPicPr>
          <p:cNvPr id="9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4430531"/>
            <a:ext cx="1138656" cy="853992"/>
          </a:xfrm>
          <a:prstGeom prst="rect">
            <a:avLst/>
          </a:prstGeom>
          <a:noFill/>
        </p:spPr>
      </p:pic>
      <p:pic>
        <p:nvPicPr>
          <p:cNvPr id="10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5570483"/>
            <a:ext cx="1138656" cy="853992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53" y="670454"/>
            <a:ext cx="144127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22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000" y="1368000"/>
            <a:ext cx="3163145" cy="122203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918573" y="2401249"/>
            <a:ext cx="53221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/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En Morbihan: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projets accompagnés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entreprises propulsées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222938"/>
                </a:solidFill>
                <a:latin typeface="Quicksand Book" panose="02070303000000060000" pitchFamily="18" charset="0"/>
              </a:rPr>
              <a:t>XX</a:t>
            </a:r>
            <a:r>
              <a:rPr lang="fr-FR" sz="2800" dirty="0">
                <a:solidFill>
                  <a:srgbClr val="222938"/>
                </a:solidFill>
                <a:latin typeface="Quicksand Book" panose="02070303000000060000" pitchFamily="18" charset="0"/>
              </a:rPr>
              <a:t> emplois créés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0" y="5385600"/>
            <a:ext cx="1017018" cy="1472400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3806498" y="1576292"/>
            <a:ext cx="2947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icksand Book" panose="02070303000000060000" pitchFamily="18" charset="0"/>
              </a:rPr>
              <a:t>Chiffres clés</a:t>
            </a: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2217579" y="826957"/>
            <a:ext cx="534450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1B9"/>
                </a:solidFill>
                <a:latin typeface="Quicksand Book" panose="02070303000000060000" pitchFamily="18" charset="0"/>
              </a:rPr>
              <a:t>Quelques exemples de projets propulsés</a:t>
            </a:r>
            <a:endParaRPr lang="fr-FR" b="1" dirty="0">
              <a:solidFill>
                <a:srgbClr val="0071B9"/>
              </a:solidFill>
              <a:latin typeface="Quicksand Book" pitchFamily="18" charset="0"/>
            </a:endParaRPr>
          </a:p>
          <a:p>
            <a:endParaRPr lang="fr-FR" b="1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endParaRPr lang="fr-FR" sz="2400" dirty="0">
              <a:latin typeface="Quicksand Book" pitchFamily="18" charset="0"/>
            </a:endParaRPr>
          </a:p>
          <a:p>
            <a:r>
              <a:rPr lang="fr-FR" sz="2400" b="1" dirty="0">
                <a:latin typeface="Quicksand Book" pitchFamily="18" charset="0"/>
              </a:rPr>
              <a:t>			</a:t>
            </a:r>
            <a:r>
              <a:rPr lang="fr-FR" sz="2400" b="1" dirty="0" err="1">
                <a:latin typeface="Quicksand Book" pitchFamily="18" charset="0"/>
              </a:rPr>
              <a:t>Lorem</a:t>
            </a:r>
            <a:r>
              <a:rPr lang="fr-FR" sz="2400" b="1" dirty="0">
                <a:latin typeface="Quicksand Book" pitchFamily="18" charset="0"/>
              </a:rPr>
              <a:t> </a:t>
            </a:r>
            <a:r>
              <a:rPr lang="fr-FR" sz="2400" b="1" dirty="0" err="1">
                <a:latin typeface="Quicksand Book" pitchFamily="18" charset="0"/>
              </a:rPr>
              <a:t>ipsum</a:t>
            </a:r>
            <a:endParaRPr lang="fr-FR" sz="2400" dirty="0">
              <a:latin typeface="Quicksand Book" pitchFamily="18" charset="0"/>
            </a:endParaRPr>
          </a:p>
          <a:p>
            <a:endParaRPr lang="fr-FR" sz="1400" dirty="0">
              <a:latin typeface="Quicksand Book" pitchFamily="18" charset="0"/>
            </a:endParaRPr>
          </a:p>
        </p:txBody>
      </p:sp>
      <p:pic>
        <p:nvPicPr>
          <p:cNvPr id="13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2242067"/>
            <a:ext cx="1138656" cy="853992"/>
          </a:xfrm>
          <a:prstGeom prst="rect">
            <a:avLst/>
          </a:prstGeom>
          <a:noFill/>
        </p:spPr>
      </p:pic>
      <p:pic>
        <p:nvPicPr>
          <p:cNvPr id="8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3357635"/>
            <a:ext cx="1138656" cy="853992"/>
          </a:xfrm>
          <a:prstGeom prst="rect">
            <a:avLst/>
          </a:prstGeom>
          <a:noFill/>
        </p:spPr>
      </p:pic>
      <p:pic>
        <p:nvPicPr>
          <p:cNvPr id="9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4430531"/>
            <a:ext cx="1138656" cy="853992"/>
          </a:xfrm>
          <a:prstGeom prst="rect">
            <a:avLst/>
          </a:prstGeom>
          <a:noFill/>
        </p:spPr>
      </p:pic>
      <p:pic>
        <p:nvPicPr>
          <p:cNvPr id="10" name="Picture 3" descr="C:\Users\Utilisateur\Desktop\vente-de-decors-d-op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0000" y="5570483"/>
            <a:ext cx="1138656" cy="853992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0" y="802067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22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1047</TotalTime>
  <Words>299</Words>
  <Application>Microsoft Office PowerPoint</Application>
  <PresentationFormat>Affichage à l'écran (4:3)</PresentationFormat>
  <Paragraphs>171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Quicksand Bold</vt:lpstr>
      <vt:lpstr>Quicksand Book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143</cp:revision>
  <dcterms:created xsi:type="dcterms:W3CDTF">2017-01-06T14:27:23Z</dcterms:created>
  <dcterms:modified xsi:type="dcterms:W3CDTF">2019-03-20T10:25:18Z</dcterms:modified>
</cp:coreProperties>
</file>